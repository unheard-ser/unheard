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232B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C232B"/>
                </a:solidFill>
                <a:latin typeface="Calibri"/>
              </a:rPr>
              <a:t>Raise the confidence cutoff, automate fewer calls, get more of them right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Only the most confident calls are auto-scored</c:v>
                </c:pt>
              </c:strCache>
            </c:strRef>
          </c:tx>
          <c:spPr>
            <a:solidFill>
              <a:srgbClr val="0F6E64"/>
            </a:solidFill>
            <a:ln w="38100" cap="flat">
              <a:solidFill>
                <a:srgbClr val="0F6E64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C232B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6E64"/>
              </a:solidFill>
              <a:ln w="9525" cap="flat">
                <a:solidFill>
                  <a:srgbClr val="0F6E6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10%
0.94</c:v>
                  </c:pt>
                  <c:pt idx="1">
                    <c:v>20%
0.88</c:v>
                  </c:pt>
                  <c:pt idx="2">
                    <c:v>30%
0.81</c:v>
                  </c:pt>
                  <c:pt idx="3">
                    <c:v>40%
0.74</c:v>
                  </c:pt>
                  <c:pt idx="4">
                    <c:v>50%
0.67</c:v>
                  </c:pt>
                  <c:pt idx="5">
                    <c:v>60%
0.60</c:v>
                  </c:pt>
                  <c:pt idx="6">
                    <c:v>70%
0.52</c:v>
                  </c:pt>
                  <c:pt idx="7">
                    <c:v>80%
0.46</c:v>
                  </c:pt>
                  <c:pt idx="8">
                    <c:v>90%
0.39</c:v>
                  </c:pt>
                  <c:pt idx="9">
                    <c:v>100%
0.22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93.8</c:v>
                </c:pt>
                <c:pt idx="1">
                  <c:v>91</c:v>
                </c:pt>
                <c:pt idx="2">
                  <c:v>85.4</c:v>
                </c:pt>
                <c:pt idx="3">
                  <c:v>84</c:v>
                </c:pt>
                <c:pt idx="4">
                  <c:v>81</c:v>
                </c:pt>
                <c:pt idx="5">
                  <c:v>78.4</c:v>
                </c:pt>
                <c:pt idx="6">
                  <c:v>75.6</c:v>
                </c:pt>
                <c:pt idx="7">
                  <c:v>71.6</c:v>
                </c:pt>
                <c:pt idx="8">
                  <c:v>67.2</c:v>
                </c:pt>
                <c:pt idx="9">
                  <c:v>63.1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750" u="none">
                  <a:solidFill>
                    <a:srgbClr val="1C232B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Every call auto-scored regardless of confidence</c:v>
                </c:pt>
              </c:strCache>
            </c:strRef>
          </c:tx>
          <c:spPr>
            <a:solidFill>
              <a:srgbClr val="949DA6"/>
            </a:solidFill>
            <a:ln w="12700" cap="flat">
              <a:solidFill>
                <a:srgbClr val="949DA6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49DA6"/>
              </a:solidFill>
              <a:ln w="9525" cap="flat">
                <a:solidFill>
                  <a:srgbClr val="949D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10%
0.94</c:v>
                  </c:pt>
                  <c:pt idx="1">
                    <c:v>20%
0.88</c:v>
                  </c:pt>
                  <c:pt idx="2">
                    <c:v>30%
0.81</c:v>
                  </c:pt>
                  <c:pt idx="3">
                    <c:v>40%
0.74</c:v>
                  </c:pt>
                  <c:pt idx="4">
                    <c:v>50%
0.67</c:v>
                  </c:pt>
                  <c:pt idx="5">
                    <c:v>60%
0.60</c:v>
                  </c:pt>
                  <c:pt idx="6">
                    <c:v>70%
0.52</c:v>
                  </c:pt>
                  <c:pt idx="7">
                    <c:v>80%
0.46</c:v>
                  </c:pt>
                  <c:pt idx="8">
                    <c:v>90%
0.39</c:v>
                  </c:pt>
                  <c:pt idx="9">
                    <c:v>100%
0.22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63.1</c:v>
                </c:pt>
                <c:pt idx="1">
                  <c:v>63.1</c:v>
                </c:pt>
                <c:pt idx="2">
                  <c:v>63.1</c:v>
                </c:pt>
                <c:pt idx="3">
                  <c:v>63.1</c:v>
                </c:pt>
                <c:pt idx="4">
                  <c:v>63.1</c:v>
                </c:pt>
                <c:pt idx="5">
                  <c:v>63.1</c:v>
                </c:pt>
                <c:pt idx="6">
                  <c:v>63.1</c:v>
                </c:pt>
                <c:pt idx="7">
                  <c:v>63.1</c:v>
                </c:pt>
                <c:pt idx="8">
                  <c:v>63.1</c:v>
                </c:pt>
                <c:pt idx="9">
                  <c:v>63.1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50" b="0" i="0" u="none" strike="noStrike">
                    <a:solidFill>
                      <a:srgbClr val="58626D"/>
                    </a:solidFill>
                    <a:latin typeface="Arial"/>
                  </a:defRPr>
                </a:pPr>
                <a:r>
                  <a:rPr sz="850" b="0" i="0" u="none" strike="noStrike">
                    <a:solidFill>
                      <a:srgbClr val="58626D"/>
                    </a:solidFill>
                    <a:latin typeface="Arial"/>
                  </a:rPr>
                  <a:t>Top row: share of calls auto-scored.   Bottom row: the confidence cutoff that produces it.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862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DCE0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50" b="0" i="0" u="none" strike="noStrike">
                    <a:solidFill>
                      <a:srgbClr val="58626D"/>
                    </a:solidFill>
                    <a:latin typeface="Arial"/>
                  </a:defRPr>
                </a:pPr>
                <a:r>
                  <a:rPr sz="850" b="0" i="0" u="none" strike="noStrike">
                    <a:solidFill>
                      <a:srgbClr val="58626D"/>
                    </a:solidFill>
                    <a:latin typeface="Arial"/>
                  </a:rPr>
                  <a:t>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862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8626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accuracy number is the wrong unit for a deployment decision. The chart on the left is the evidence: ranking calls by the model's own confidence separates the easy from the hard, and confidence is honest - above 90% certainty it is right 91% of the time, below 30% it is right 17%. The console on the right is what that becomes in practice. The slider is the only real control; everything else filters. The queue rows are genuine model output, including the last one, which is wrong - that is why it sits in the Review lane. Note the Review band scores 33.9%: the model is genuinely poor there, and the value is that it can tell you which calls those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8346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Accuracy Number to an Operating Decision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scores every call and reports how sure it is. One threshold decides how much of the queue closes without a human.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83112" cy="566928"/>
          </a:xfrm>
          <a:prstGeom prst="rect">
            <a:avLst/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33856"/>
            <a:ext cx="777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13385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QA analyst hand-scores 1 to 5% of calls, chosen more or less arbitrarily. CSAT arrives days later from a survey few customers answer.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08192" y="1152144"/>
            <a:ext cx="0" cy="402336"/>
          </a:xfrm>
          <a:prstGeom prst="line">
            <a:avLst/>
          </a:prstGeom>
          <a:noFill/>
          <a:ln w="12700">
            <a:solidFill>
              <a:srgbClr val="DCE0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72784" y="1133856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SER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278624" y="11338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is scored at hang-up and ranked by confidence, so the review hour goes to the calls that need it instead of a random sample.</a:t>
            </a:r>
            <a:endParaRPr lang="en-US" sz="9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1737360"/>
          <a:ext cx="5715000" cy="32186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02920" y="4992624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it: </a:t>
            </a:r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cutoff at 0.81 and the model keeps the 30% of calls it is surest about, scoring 85.4% on them. Drop the cutoff to 0.22 and it keeps everything, scoring 63.1%.  </a:t>
            </a:r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cutoff only works because confidence is honest: </a:t>
            </a:r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0.90 the model is right 91% of the time, below 0.30 just 17%.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5687568"/>
            <a:ext cx="5623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it: </a:t>
            </a:r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supervisor and CX operations lead.   </a:t>
            </a:r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it supports: </a:t>
            </a:r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set the auto-score threshold, which fixes both the review hours saved and the accuracy given up.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82512" y="1737360"/>
            <a:ext cx="5303520" cy="45720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82512" y="1737360"/>
            <a:ext cx="5303520" cy="365760"/>
          </a:xfrm>
          <a:prstGeom prst="rect">
            <a:avLst/>
          </a:prstGeom>
          <a:solidFill>
            <a:srgbClr val="1C232B"/>
          </a:solidFill>
          <a:ln w="12700">
            <a:solidFill>
              <a:srgbClr val="1C23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28816" y="18105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console  ·  call review queue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0177272" y="1828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intent, not built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528816" y="2212848"/>
            <a:ext cx="1170432" cy="219456"/>
          </a:xfrm>
          <a:prstGeom prst="roundRect">
            <a:avLst>
              <a:gd name="adj" fmla="val 16667"/>
            </a:avLst>
          </a:prstGeom>
          <a:solidFill>
            <a:srgbClr val="F3F6F7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92824" y="223570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class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 rot="10800000">
            <a:off x="7525512" y="2299716"/>
            <a:ext cx="91440" cy="54864"/>
          </a:xfrm>
          <a:prstGeom prst="triangle">
            <a:avLst/>
          </a:prstGeom>
          <a:solidFill>
            <a:srgbClr val="58626D"/>
          </a:solidFill>
          <a:ln w="12700">
            <a:solidFill>
              <a:srgbClr val="58626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90688" y="2212848"/>
            <a:ext cx="1170432" cy="219456"/>
          </a:xfrm>
          <a:prstGeom prst="roundRect">
            <a:avLst>
              <a:gd name="adj" fmla="val 16667"/>
            </a:avLst>
          </a:prstGeom>
          <a:solidFill>
            <a:srgbClr val="F3F6F7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854696" y="223570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intensity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 rot="10800000">
            <a:off x="8787384" y="2299716"/>
            <a:ext cx="91440" cy="54864"/>
          </a:xfrm>
          <a:prstGeom prst="triangle">
            <a:avLst/>
          </a:prstGeom>
          <a:solidFill>
            <a:srgbClr val="58626D"/>
          </a:solidFill>
          <a:ln w="12700">
            <a:solidFill>
              <a:srgbClr val="58626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052560" y="2212848"/>
            <a:ext cx="1170432" cy="219456"/>
          </a:xfrm>
          <a:prstGeom prst="roundRect">
            <a:avLst>
              <a:gd name="adj" fmla="val 16667"/>
            </a:avLst>
          </a:prstGeom>
          <a:solidFill>
            <a:srgbClr val="F3F6F7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16568" y="223570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team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 rot="10800000">
            <a:off x="10049256" y="2299716"/>
            <a:ext cx="91440" cy="54864"/>
          </a:xfrm>
          <a:prstGeom prst="triangle">
            <a:avLst/>
          </a:prstGeom>
          <a:solidFill>
            <a:srgbClr val="58626D"/>
          </a:solidFill>
          <a:ln w="12700">
            <a:solidFill>
              <a:srgbClr val="58626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314432" y="2212848"/>
            <a:ext cx="1170432" cy="219456"/>
          </a:xfrm>
          <a:prstGeom prst="roundRect">
            <a:avLst>
              <a:gd name="adj" fmla="val 16667"/>
            </a:avLst>
          </a:prstGeom>
          <a:solidFill>
            <a:srgbClr val="F3F6F7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378440" y="223570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 rot="10800000">
            <a:off x="11311128" y="2299716"/>
            <a:ext cx="91440" cy="54864"/>
          </a:xfrm>
          <a:prstGeom prst="triangle">
            <a:avLst/>
          </a:prstGeom>
          <a:solidFill>
            <a:srgbClr val="58626D"/>
          </a:solidFill>
          <a:ln w="12700">
            <a:solidFill>
              <a:srgbClr val="58626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28816" y="25603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 when confidence is above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8869680" y="25420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9381744" y="256032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30% of calls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528816" y="2834640"/>
            <a:ext cx="5010912" cy="82296"/>
          </a:xfrm>
          <a:prstGeom prst="roundRect">
            <a:avLst>
              <a:gd name="adj" fmla="val 44444"/>
            </a:avLst>
          </a:prstGeom>
          <a:solidFill>
            <a:srgbClr val="DCE0E4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528816" y="2834640"/>
            <a:ext cx="3520440" cy="82296"/>
          </a:xfrm>
          <a:prstGeom prst="roundRect">
            <a:avLst>
              <a:gd name="adj" fmla="val 44444"/>
            </a:avLst>
          </a:prstGeom>
          <a:solidFill>
            <a:srgbClr val="0F6E64"/>
          </a:solidFill>
          <a:ln w="12700">
            <a:solidFill>
              <a:srgbClr val="0F6E6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912096" y="2779776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6E6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528816" y="29626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automation, higher accuracy</a:t>
            </a:r>
            <a:endParaRPr lang="en-US" sz="700" dirty="0"/>
          </a:p>
        </p:txBody>
      </p:sp>
      <p:sp>
        <p:nvSpPr>
          <p:cNvPr id="36" name="Text 33"/>
          <p:cNvSpPr txBox="1"/>
          <p:nvPr/>
        </p:nvSpPr>
        <p:spPr>
          <a:xfrm>
            <a:off x="9162288" y="29626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automation, more mistakes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6528816" y="3209544"/>
            <a:ext cx="5010912" cy="0"/>
          </a:xfrm>
          <a:prstGeom prst="line">
            <a:avLst/>
          </a:prstGeom>
          <a:noFill/>
          <a:ln w="12700">
            <a:solidFill>
              <a:srgbClr val="DCE0E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528816" y="32552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7388352" y="32552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emotion</a:t>
            </a:r>
            <a:endParaRPr lang="en-US" sz="750" dirty="0"/>
          </a:p>
        </p:txBody>
      </p:sp>
      <p:sp>
        <p:nvSpPr>
          <p:cNvPr id="40" name="Text 37"/>
          <p:cNvSpPr txBox="1"/>
          <p:nvPr/>
        </p:nvSpPr>
        <p:spPr>
          <a:xfrm>
            <a:off x="9034272" y="32552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10360152" y="3255264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 dirty="0"/>
          </a:p>
        </p:txBody>
      </p:sp>
      <p:sp>
        <p:nvSpPr>
          <p:cNvPr id="42" name="Text 39"/>
          <p:cNvSpPr txBox="1"/>
          <p:nvPr/>
        </p:nvSpPr>
        <p:spPr>
          <a:xfrm>
            <a:off x="6528816" y="34930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08</a:t>
            </a:r>
            <a:endParaRPr lang="en-US" sz="850" dirty="0"/>
          </a:p>
        </p:txBody>
      </p:sp>
      <p:sp>
        <p:nvSpPr>
          <p:cNvPr id="43" name="Text 40"/>
          <p:cNvSpPr txBox="1"/>
          <p:nvPr/>
        </p:nvSpPr>
        <p:spPr>
          <a:xfrm>
            <a:off x="7388352" y="34930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9034272" y="34930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10360152" y="3483864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0F6E64"/>
          </a:solidFill>
          <a:ln w="12700">
            <a:solidFill>
              <a:srgbClr val="0F6E64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0360152" y="3497580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Auto-scored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6473952" y="3730752"/>
            <a:ext cx="5120640" cy="256032"/>
          </a:xfrm>
          <a:prstGeom prst="rect">
            <a:avLst/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528816" y="37581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24</a:t>
            </a:r>
            <a:endParaRPr lang="en-US" sz="850" dirty="0"/>
          </a:p>
        </p:txBody>
      </p:sp>
      <p:sp>
        <p:nvSpPr>
          <p:cNvPr id="49" name="Text 46"/>
          <p:cNvSpPr txBox="1"/>
          <p:nvPr/>
        </p:nvSpPr>
        <p:spPr>
          <a:xfrm>
            <a:off x="7388352" y="37581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</a:t>
            </a:r>
            <a:endParaRPr lang="en-US" sz="850" dirty="0"/>
          </a:p>
        </p:txBody>
      </p:sp>
      <p:sp>
        <p:nvSpPr>
          <p:cNvPr id="50" name="Text 47"/>
          <p:cNvSpPr txBox="1"/>
          <p:nvPr/>
        </p:nvSpPr>
        <p:spPr>
          <a:xfrm>
            <a:off x="9034272" y="37581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10360152" y="3749040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0F6E64"/>
          </a:solidFill>
          <a:ln w="12700">
            <a:solidFill>
              <a:srgbClr val="0F6E64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360152" y="3762756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Auto-scored</a:t>
            </a:r>
            <a:endParaRPr lang="en-US" sz="750" dirty="0"/>
          </a:p>
        </p:txBody>
      </p:sp>
      <p:sp>
        <p:nvSpPr>
          <p:cNvPr id="53" name="Text 50"/>
          <p:cNvSpPr txBox="1"/>
          <p:nvPr/>
        </p:nvSpPr>
        <p:spPr>
          <a:xfrm>
            <a:off x="6528816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10</a:t>
            </a:r>
            <a:endParaRPr lang="en-US" sz="850" dirty="0"/>
          </a:p>
        </p:txBody>
      </p:sp>
      <p:sp>
        <p:nvSpPr>
          <p:cNvPr id="54" name="Text 51"/>
          <p:cNvSpPr txBox="1"/>
          <p:nvPr/>
        </p:nvSpPr>
        <p:spPr>
          <a:xfrm>
            <a:off x="7388352" y="40233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surprised</a:t>
            </a:r>
            <a:endParaRPr lang="en-US" sz="850" dirty="0"/>
          </a:p>
        </p:txBody>
      </p:sp>
      <p:sp>
        <p:nvSpPr>
          <p:cNvPr id="55" name="Text 52"/>
          <p:cNvSpPr txBox="1"/>
          <p:nvPr/>
        </p:nvSpPr>
        <p:spPr>
          <a:xfrm>
            <a:off x="9034272" y="40233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10360152" y="4014216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0F6E64"/>
          </a:solidFill>
          <a:ln w="12700">
            <a:solidFill>
              <a:srgbClr val="0F6E64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360152" y="4027932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Auto-scored</a:t>
            </a:r>
            <a:endParaRPr lang="en-US" sz="750" dirty="0"/>
          </a:p>
        </p:txBody>
      </p:sp>
      <p:sp>
        <p:nvSpPr>
          <p:cNvPr id="58" name="Shape 55"/>
          <p:cNvSpPr/>
          <p:nvPr/>
        </p:nvSpPr>
        <p:spPr>
          <a:xfrm>
            <a:off x="6473952" y="4261104"/>
            <a:ext cx="5120640" cy="256032"/>
          </a:xfrm>
          <a:prstGeom prst="rect">
            <a:avLst/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6528816" y="42885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09</a:t>
            </a:r>
            <a:endParaRPr lang="en-US" sz="850" dirty="0"/>
          </a:p>
        </p:txBody>
      </p:sp>
      <p:sp>
        <p:nvSpPr>
          <p:cNvPr id="60" name="Text 57"/>
          <p:cNvSpPr txBox="1"/>
          <p:nvPr/>
        </p:nvSpPr>
        <p:spPr>
          <a:xfrm>
            <a:off x="7388352" y="42885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fearful</a:t>
            </a:r>
            <a:endParaRPr lang="en-US" sz="850" dirty="0"/>
          </a:p>
        </p:txBody>
      </p:sp>
      <p:sp>
        <p:nvSpPr>
          <p:cNvPr id="61" name="Text 58"/>
          <p:cNvSpPr txBox="1"/>
          <p:nvPr/>
        </p:nvSpPr>
        <p:spPr>
          <a:xfrm>
            <a:off x="9034272" y="4288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10360152" y="4279392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0F6E64"/>
          </a:solidFill>
          <a:ln w="12700">
            <a:solidFill>
              <a:srgbClr val="0F6E64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0360152" y="4293108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Auto-scored</a:t>
            </a:r>
            <a:endParaRPr lang="en-US" sz="750" dirty="0"/>
          </a:p>
        </p:txBody>
      </p:sp>
      <p:sp>
        <p:nvSpPr>
          <p:cNvPr id="64" name="Text 61"/>
          <p:cNvSpPr txBox="1"/>
          <p:nvPr/>
        </p:nvSpPr>
        <p:spPr>
          <a:xfrm>
            <a:off x="6528816" y="45537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21</a:t>
            </a:r>
            <a:endParaRPr lang="en-US" sz="850" dirty="0"/>
          </a:p>
        </p:txBody>
      </p:sp>
      <p:sp>
        <p:nvSpPr>
          <p:cNvPr id="65" name="Text 62"/>
          <p:cNvSpPr txBox="1"/>
          <p:nvPr/>
        </p:nvSpPr>
        <p:spPr>
          <a:xfrm>
            <a:off x="7388352" y="45537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</a:t>
            </a:r>
            <a:endParaRPr lang="en-US" sz="850" dirty="0"/>
          </a:p>
        </p:txBody>
      </p:sp>
      <p:sp>
        <p:nvSpPr>
          <p:cNvPr id="66" name="Text 63"/>
          <p:cNvSpPr txBox="1"/>
          <p:nvPr/>
        </p:nvSpPr>
        <p:spPr>
          <a:xfrm>
            <a:off x="9034272" y="45537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10360152" y="4544568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A1620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10360152" y="4558284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6473952" y="4791456"/>
            <a:ext cx="5120640" cy="256032"/>
          </a:xfrm>
          <a:prstGeom prst="rect">
            <a:avLst/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6528816" y="4818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06</a:t>
            </a:r>
            <a:endParaRPr lang="en-US" sz="850" dirty="0"/>
          </a:p>
        </p:txBody>
      </p:sp>
      <p:sp>
        <p:nvSpPr>
          <p:cNvPr id="71" name="Text 68"/>
          <p:cNvSpPr txBox="1"/>
          <p:nvPr/>
        </p:nvSpPr>
        <p:spPr>
          <a:xfrm>
            <a:off x="7388352" y="4818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</a:t>
            </a:r>
            <a:endParaRPr lang="en-US" sz="850" dirty="0"/>
          </a:p>
        </p:txBody>
      </p:sp>
      <p:sp>
        <p:nvSpPr>
          <p:cNvPr id="72" name="Text 69"/>
          <p:cNvSpPr txBox="1"/>
          <p:nvPr/>
        </p:nvSpPr>
        <p:spPr>
          <a:xfrm>
            <a:off x="9034272" y="48188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10360152" y="4809744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A1620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10360152" y="4823460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</a:t>
            </a:r>
            <a:endParaRPr lang="en-US" sz="750" dirty="0"/>
          </a:p>
        </p:txBody>
      </p:sp>
      <p:sp>
        <p:nvSpPr>
          <p:cNvPr id="75" name="Text 72"/>
          <p:cNvSpPr txBox="1"/>
          <p:nvPr/>
        </p:nvSpPr>
        <p:spPr>
          <a:xfrm>
            <a:off x="6528816" y="50840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20</a:t>
            </a:r>
            <a:endParaRPr lang="en-US" sz="850" dirty="0"/>
          </a:p>
        </p:txBody>
      </p:sp>
      <p:sp>
        <p:nvSpPr>
          <p:cNvPr id="76" name="Text 73"/>
          <p:cNvSpPr txBox="1"/>
          <p:nvPr/>
        </p:nvSpPr>
        <p:spPr>
          <a:xfrm>
            <a:off x="7388352" y="50840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surprised</a:t>
            </a:r>
            <a:endParaRPr lang="en-US" sz="850" dirty="0"/>
          </a:p>
        </p:txBody>
      </p:sp>
      <p:sp>
        <p:nvSpPr>
          <p:cNvPr id="77" name="Text 74"/>
          <p:cNvSpPr txBox="1"/>
          <p:nvPr/>
        </p:nvSpPr>
        <p:spPr>
          <a:xfrm>
            <a:off x="9034272" y="50840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850" dirty="0"/>
          </a:p>
        </p:txBody>
      </p:sp>
      <p:sp>
        <p:nvSpPr>
          <p:cNvPr id="78" name="Shape 75"/>
          <p:cNvSpPr/>
          <p:nvPr/>
        </p:nvSpPr>
        <p:spPr>
          <a:xfrm>
            <a:off x="10360152" y="5074920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B4531B"/>
          </a:solidFill>
          <a:ln w="12700">
            <a:solidFill>
              <a:srgbClr val="B4531B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360152" y="5088636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80" name="Shape 77"/>
          <p:cNvSpPr/>
          <p:nvPr/>
        </p:nvSpPr>
        <p:spPr>
          <a:xfrm>
            <a:off x="6473952" y="5321808"/>
            <a:ext cx="5120640" cy="256032"/>
          </a:xfrm>
          <a:prstGeom prst="rect">
            <a:avLst/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6528816" y="5349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21</a:t>
            </a:r>
            <a:endParaRPr lang="en-US" sz="850" dirty="0"/>
          </a:p>
        </p:txBody>
      </p:sp>
      <p:sp>
        <p:nvSpPr>
          <p:cNvPr id="82" name="Text 79"/>
          <p:cNvSpPr txBox="1"/>
          <p:nvPr/>
        </p:nvSpPr>
        <p:spPr>
          <a:xfrm>
            <a:off x="7388352" y="53492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850" dirty="0"/>
          </a:p>
        </p:txBody>
      </p:sp>
      <p:sp>
        <p:nvSpPr>
          <p:cNvPr id="83" name="Text 80"/>
          <p:cNvSpPr txBox="1"/>
          <p:nvPr/>
        </p:nvSpPr>
        <p:spPr>
          <a:xfrm>
            <a:off x="9034272" y="53492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</a:t>
            </a:r>
            <a:endParaRPr lang="en-US" sz="850" dirty="0"/>
          </a:p>
        </p:txBody>
      </p:sp>
      <p:sp>
        <p:nvSpPr>
          <p:cNvPr id="84" name="Shape 81"/>
          <p:cNvSpPr/>
          <p:nvPr/>
        </p:nvSpPr>
        <p:spPr>
          <a:xfrm>
            <a:off x="10360152" y="5340096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B4531B"/>
          </a:solidFill>
          <a:ln w="12700">
            <a:solidFill>
              <a:srgbClr val="B4531B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10360152" y="5353812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86" name="Shape 83"/>
          <p:cNvSpPr/>
          <p:nvPr/>
        </p:nvSpPr>
        <p:spPr>
          <a:xfrm>
            <a:off x="6528816" y="5669280"/>
            <a:ext cx="5010912" cy="0"/>
          </a:xfrm>
          <a:prstGeom prst="line">
            <a:avLst/>
          </a:prstGeom>
          <a:noFill/>
          <a:ln w="12700">
            <a:solidFill>
              <a:srgbClr val="DCE0E4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6528816" y="5797296"/>
            <a:ext cx="100584" cy="100584"/>
          </a:xfrm>
          <a:prstGeom prst="ellipse">
            <a:avLst/>
          </a:prstGeom>
          <a:solidFill>
            <a:srgbClr val="0F6E64"/>
          </a:solidFill>
          <a:ln w="12700">
            <a:solidFill>
              <a:srgbClr val="0F6E64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693408" y="5751576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Auto-scored</a:t>
            </a:r>
            <a:endParaRPr lang="en-US" sz="850" dirty="0"/>
          </a:p>
        </p:txBody>
      </p:sp>
      <p:sp>
        <p:nvSpPr>
          <p:cNvPr id="89" name="Text 86"/>
          <p:cNvSpPr txBox="1"/>
          <p:nvPr/>
        </p:nvSpPr>
        <p:spPr>
          <a:xfrm>
            <a:off x="6693408" y="5916168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calls  ·  85.4% accurate</a:t>
            </a:r>
            <a:endParaRPr lang="en-US" sz="750" dirty="0"/>
          </a:p>
        </p:txBody>
      </p:sp>
      <p:sp>
        <p:nvSpPr>
          <p:cNvPr id="90" name="Shape 87"/>
          <p:cNvSpPr/>
          <p:nvPr/>
        </p:nvSpPr>
        <p:spPr>
          <a:xfrm>
            <a:off x="8202168" y="5797296"/>
            <a:ext cx="100584" cy="100584"/>
          </a:xfrm>
          <a:prstGeom prst="ellipse">
            <a:avLst/>
          </a:prstGeom>
          <a:solidFill>
            <a:srgbClr val="A1620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8366760" y="5751576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</a:t>
            </a:r>
            <a:endParaRPr lang="en-US" sz="850" dirty="0"/>
          </a:p>
        </p:txBody>
      </p:sp>
      <p:sp>
        <p:nvSpPr>
          <p:cNvPr id="92" name="Text 89"/>
          <p:cNvSpPr txBox="1"/>
          <p:nvPr/>
        </p:nvSpPr>
        <p:spPr>
          <a:xfrm>
            <a:off x="8366760" y="5916168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calls  ·  68.3% accurate</a:t>
            </a:r>
            <a:endParaRPr lang="en-US" sz="750" dirty="0"/>
          </a:p>
        </p:txBody>
      </p:sp>
      <p:sp>
        <p:nvSpPr>
          <p:cNvPr id="93" name="Shape 90"/>
          <p:cNvSpPr/>
          <p:nvPr/>
        </p:nvSpPr>
        <p:spPr>
          <a:xfrm>
            <a:off x="9875520" y="5797296"/>
            <a:ext cx="100584" cy="100584"/>
          </a:xfrm>
          <a:prstGeom prst="ellipse">
            <a:avLst/>
          </a:prstGeom>
          <a:solidFill>
            <a:srgbClr val="B4531B"/>
          </a:solidFill>
          <a:ln w="12700">
            <a:solidFill>
              <a:srgbClr val="B4531B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10040112" y="5751576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50" dirty="0"/>
          </a:p>
        </p:txBody>
      </p:sp>
      <p:sp>
        <p:nvSpPr>
          <p:cNvPr id="95" name="Text 92"/>
          <p:cNvSpPr txBox="1"/>
          <p:nvPr/>
        </p:nvSpPr>
        <p:spPr>
          <a:xfrm>
            <a:off x="10040112" y="5916168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calls  ·  33.9% accurate</a:t>
            </a:r>
            <a:endParaRPr lang="en-US" sz="750" dirty="0"/>
          </a:p>
        </p:txBody>
      </p:sp>
      <p:sp>
        <p:nvSpPr>
          <p:cNvPr id="96" name="Text 93"/>
          <p:cNvSpPr txBox="1"/>
          <p:nvPr/>
        </p:nvSpPr>
        <p:spPr>
          <a:xfrm>
            <a:off x="502920" y="643737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own analysis on RAVDESS (Livingstone and Russo, 2018). 1,440 clips, 5-fold speaker-held-out, pooled out-of-fold. Queue rows are real model output. Confidence is the model's own probability estimate; producing it requires calibration, which is why 100% coverage reads 63.1% against the 63.9% headline elsewhere in this deck.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2026-09-05T09:31:45Z</dcterms:created>
  <dcterms:modified xsi:type="dcterms:W3CDTF">2026-09-05T09:31:45Z</dcterms:modified>
</cp:coreProperties>
</file>