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3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32B"/>
                </a:solidFill>
                <a:latin typeface="Calibri"/>
              </a:rPr>
              <a:t>Accuracy rises as the model hands back what it is unsure about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Only the most confident calls are auto-scored</c:v>
                </c:pt>
              </c:strCache>
            </c:strRef>
          </c:tx>
          <c:spPr>
            <a:solidFill>
              <a:srgbClr val="0F6E64"/>
            </a:solidFill>
            <a:ln w="38100" cap="flat">
              <a:solidFill>
                <a:srgbClr val="0F6E64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C232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E64"/>
              </a:solidFill>
              <a:ln w="9525" cap="flat">
                <a:solidFill>
                  <a:srgbClr val="0F6E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93.8</c:v>
                </c:pt>
                <c:pt idx="1">
                  <c:v>91</c:v>
                </c:pt>
                <c:pt idx="2">
                  <c:v>85.4</c:v>
                </c:pt>
                <c:pt idx="3">
                  <c:v>84</c:v>
                </c:pt>
                <c:pt idx="4">
                  <c:v>81</c:v>
                </c:pt>
                <c:pt idx="5">
                  <c:v>78.4</c:v>
                </c:pt>
                <c:pt idx="6">
                  <c:v>75.6</c:v>
                </c:pt>
                <c:pt idx="7">
                  <c:v>71.6</c:v>
                </c:pt>
                <c:pt idx="8">
                  <c:v>67.2</c:v>
                </c:pt>
                <c:pt idx="9">
                  <c:v>63.1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C232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Every call auto-scored regardless of confidence</c:v>
                </c:pt>
              </c:strCache>
            </c:strRef>
          </c:tx>
          <c:spPr>
            <a:solidFill>
              <a:srgbClr val="949DA6"/>
            </a:solidFill>
            <a:ln w="12700" cap="flat">
              <a:solidFill>
                <a:srgbClr val="949DA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9DA6"/>
              </a:solidFill>
              <a:ln w="9525" cap="flat">
                <a:solidFill>
                  <a:srgbClr val="949D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63.1</c:v>
                </c:pt>
                <c:pt idx="1">
                  <c:v>63.1</c:v>
                </c:pt>
                <c:pt idx="2">
                  <c:v>63.1</c:v>
                </c:pt>
                <c:pt idx="3">
                  <c:v>63.1</c:v>
                </c:pt>
                <c:pt idx="4">
                  <c:v>63.1</c:v>
                </c:pt>
                <c:pt idx="5">
                  <c:v>63.1</c:v>
                </c:pt>
                <c:pt idx="6">
                  <c:v>63.1</c:v>
                </c:pt>
                <c:pt idx="7">
                  <c:v>63.1</c:v>
                </c:pt>
                <c:pt idx="8">
                  <c:v>63.1</c:v>
                </c:pt>
                <c:pt idx="9">
                  <c:v>63.1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8626D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8626D"/>
                    </a:solidFill>
                    <a:latin typeface="Arial"/>
                  </a:rPr>
                  <a:t>Share of calls auto-scored, most confident first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2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DCE0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8626D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8626D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2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8626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accuracy number is the wrong unit for a deployment decision. The chart on the left is the evidence: ranking calls by the model's own confidence separates the easy from the hard, and confidence is honest - above 90% certainty it is right 91% of the time, below 30% it is right 17%. The console on the right is what that becomes in practice. The slider is the only real control; everything else filters. The queue rows are genuine model output, including the last one, which is wrong - that is why it sits in the Review lane. Note the Review band scores 33.9%: the model is genuinely poor there, and the value is that it can tell you which calls those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Accuracy Number to an Operating Decision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call and reports how sure it is. One threshold decides how much of the queue closes without a human.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83112" cy="566928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33856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1338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 analyst hand-scores 1 to 5% of calls, chosen more or less arbitrarily. CSAT arrives days later from a survey few customers answer.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08192" y="1152144"/>
            <a:ext cx="0" cy="402336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2784" y="1133856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278624" y="11338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scored at hang-up and ranked by confidence, so the review hour goes to the calls that need it instead of a random sample.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737360"/>
          <a:ext cx="5715000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02920" y="5029200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honest, which is what makes this work.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reports over 90% certainty it is right 91% of the time; below 30% certainty it is right 17% of the time. So ranking by confidence really does sort the easy calls from the hard ones.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687568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supervisor and CX operations lead.   </a:t>
            </a:r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it supports: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set the auto-score threshold, which fixes both the review hours saved and the accuracy given up.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82512" y="1737360"/>
            <a:ext cx="530352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2512" y="1737360"/>
            <a:ext cx="5303520" cy="365760"/>
          </a:xfrm>
          <a:prstGeom prst="rect">
            <a:avLst/>
          </a:prstGeom>
          <a:solidFill>
            <a:srgbClr val="1C232B"/>
          </a:solidFill>
          <a:ln w="12700">
            <a:solidFill>
              <a:srgbClr val="1C2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28816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console  ·  call review queue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177272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intent, not built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528816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92824" y="223570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  v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790688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54696" y="223570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intensity  v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052560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16568" y="223570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team  v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0314432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378440" y="223570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 v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6528816" y="2560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 when confidence is above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25420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381744" y="256032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30% of calls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528816" y="2834640"/>
            <a:ext cx="5010912" cy="82296"/>
          </a:xfrm>
          <a:prstGeom prst="roundRect">
            <a:avLst>
              <a:gd name="adj" fmla="val 44444"/>
            </a:avLst>
          </a:prstGeom>
          <a:solidFill>
            <a:srgbClr val="DCE0E4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28816" y="283464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912096" y="277977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28816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automation, higher accuracy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9162288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automation, more mistakes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6528816" y="3209544"/>
            <a:ext cx="5010912" cy="0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28816" y="3255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7388352" y="3255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9034272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325526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6528816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7388352" y="34930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9034272" y="3493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0360152" y="3483864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360152" y="3497580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6473952" y="3730752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28816" y="3758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24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7388352" y="3758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9034272" y="3758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360152" y="3749040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360152" y="3762756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6528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7388352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9034272" y="4023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10360152" y="4014216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360152" y="4027932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6473952" y="4261104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528816" y="4288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09</a:t>
            </a:r>
            <a:endParaRPr lang="en-US" sz="850" dirty="0"/>
          </a:p>
        </p:txBody>
      </p:sp>
      <p:sp>
        <p:nvSpPr>
          <p:cNvPr id="56" name="Text 53"/>
          <p:cNvSpPr txBox="1"/>
          <p:nvPr/>
        </p:nvSpPr>
        <p:spPr>
          <a:xfrm>
            <a:off x="7388352" y="4288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fearful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9034272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10360152" y="4279392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0360152" y="4293108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60" name="Text 57"/>
          <p:cNvSpPr txBox="1"/>
          <p:nvPr/>
        </p:nvSpPr>
        <p:spPr>
          <a:xfrm>
            <a:off x="6528816" y="4553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21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7388352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9034272" y="45537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10360152" y="4544568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360152" y="4558284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6473952" y="4791456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528816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7388352" y="4818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9034272" y="4818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10360152" y="4809744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360152" y="4823460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6528816" y="5084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20</a:t>
            </a:r>
            <a:endParaRPr lang="en-US" sz="850" dirty="0"/>
          </a:p>
        </p:txBody>
      </p:sp>
      <p:sp>
        <p:nvSpPr>
          <p:cNvPr id="72" name="Text 69"/>
          <p:cNvSpPr txBox="1"/>
          <p:nvPr/>
        </p:nvSpPr>
        <p:spPr>
          <a:xfrm>
            <a:off x="7388352" y="5084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9034272" y="50840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10360152" y="5074920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360152" y="5088636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6473952" y="5321808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6528816" y="5349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21</a:t>
            </a:r>
            <a:endParaRPr lang="en-US" sz="850" dirty="0"/>
          </a:p>
        </p:txBody>
      </p:sp>
      <p:sp>
        <p:nvSpPr>
          <p:cNvPr id="78" name="Text 75"/>
          <p:cNvSpPr txBox="1"/>
          <p:nvPr/>
        </p:nvSpPr>
        <p:spPr>
          <a:xfrm>
            <a:off x="7388352" y="5349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79" name="Text 76"/>
          <p:cNvSpPr txBox="1"/>
          <p:nvPr/>
        </p:nvSpPr>
        <p:spPr>
          <a:xfrm>
            <a:off x="9034272" y="5349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0360152" y="5340096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10360152" y="5353812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82" name="Shape 79"/>
          <p:cNvSpPr/>
          <p:nvPr/>
        </p:nvSpPr>
        <p:spPr>
          <a:xfrm>
            <a:off x="6528816" y="5669280"/>
            <a:ext cx="5010912" cy="0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528816" y="5797296"/>
            <a:ext cx="100584" cy="100584"/>
          </a:xfrm>
          <a:prstGeom prst="ellipse">
            <a:avLst/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6693408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850" dirty="0"/>
          </a:p>
        </p:txBody>
      </p:sp>
      <p:sp>
        <p:nvSpPr>
          <p:cNvPr id="85" name="Text 82"/>
          <p:cNvSpPr txBox="1"/>
          <p:nvPr/>
        </p:nvSpPr>
        <p:spPr>
          <a:xfrm>
            <a:off x="6693408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calls  ·  85.4% accurate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8202168" y="5797296"/>
            <a:ext cx="100584" cy="100584"/>
          </a:xfrm>
          <a:prstGeom prst="ellipse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8366760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850" dirty="0"/>
          </a:p>
        </p:txBody>
      </p:sp>
      <p:sp>
        <p:nvSpPr>
          <p:cNvPr id="88" name="Text 85"/>
          <p:cNvSpPr txBox="1"/>
          <p:nvPr/>
        </p:nvSpPr>
        <p:spPr>
          <a:xfrm>
            <a:off x="8366760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calls  ·  68.3% accurate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9875520" y="5797296"/>
            <a:ext cx="100584" cy="100584"/>
          </a:xfrm>
          <a:prstGeom prst="ellipse">
            <a:avLst/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10040112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10040112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calls  ·  33.9% accurate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502920" y="643737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own analysis on RAVDESS (Livingstone and Russo, 2018). 1,440 clips, 5-fold speaker-held-out, pooled out-of-fold. Queue rows are real model output. Confidence is the model's own probability estimate; producing it requires calibration, which is why 100% coverage reads 63.1% against the 63.9% headline elsewhere in this deck.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2026-09-05T08:32:01Z</dcterms:created>
  <dcterms:modified xsi:type="dcterms:W3CDTF">2026-09-05T08:32:01Z</dcterms:modified>
</cp:coreProperties>
</file>