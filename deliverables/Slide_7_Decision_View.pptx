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1C232B"/>
                </a:solidFill>
                <a:latin typeface="Calibri"/>
              </a:defRPr>
            </a:pPr>
            <a:r>
              <a:rPr sz="1150" b="0" i="0" u="none" strike="noStrike">
                <a:solidFill>
                  <a:srgbClr val="1C232B"/>
                </a:solidFill>
                <a:latin typeface="Calibri"/>
              </a:rPr>
              <a:t>Accuracy rises as the model hands back the calls it is unsure about</a:t>
            </a:r>
          </a:p>
        </c:rich>
      </c:tx>
      <c:layout/>
      <c:overlay val="0"/>
    </c:title>
    <c:autoTitleDeleted val="0"/>
    <c:plotArea>
      <c:layout/>
      <c:lineChart>
        <c:varyColors val="0"/>
        <c:ser>
          <c:idx val="0"/>
          <c:order val="0"/>
          <c:tx>
            <c:strRef>
              <c:f>Sheet1!$B$1</c:f>
              <c:strCache>
                <c:ptCount val="1"/>
                <c:pt idx="0">
                  <c:v>Accuracy when only the most confident calls are auto-scored</c:v>
                </c:pt>
              </c:strCache>
            </c:strRef>
          </c:tx>
          <c:spPr>
            <a:solidFill>
              <a:srgbClr val="0F6E64"/>
            </a:solidFill>
            <a:ln w="38100" cap="flat">
              <a:solidFill>
                <a:srgbClr val="0F6E64"/>
              </a:solidFill>
              <a:prstDash val="solid"/>
              <a:round/>
            </a:ln>
            <a:effectLst/>
          </c:spPr>
          <c:invertIfNegative val="0"/>
          <c:dLbls>
            <c:numFmt formatCode="0.0" sourceLinked="0"/>
            <c:txPr>
              <a:bodyPr/>
              <a:lstStyle/>
              <a:p>
                <a:pPr>
                  <a:defRPr b="0" i="0" strike="noStrike" sz="800" u="none">
                    <a:solidFill>
                      <a:srgbClr val="1C232B"/>
                    </a:solidFill>
                    <a:latin typeface="Calibri"/>
                  </a:defRPr>
                </a:pPr>
              </a:p>
            </c:txPr>
            <c:dLblPos val="t"/>
            <c:showLegendKey val="0"/>
            <c:showVal val="1"/>
            <c:showCatName val="0"/>
            <c:showSerName val="0"/>
            <c:showPercent val="0"/>
            <c:showBubbleSize val="0"/>
            <c:showLeaderLines val="0"/>
          </c:dLbls>
          <c:marker>
            <c:symbol val="circle"/>
            <c:size val="6"/>
            <c:spPr>
              <a:solidFill>
                <a:srgbClr val="0F6E64"/>
              </a:solidFill>
              <a:ln w="9525" cap="flat">
                <a:solidFill>
                  <a:srgbClr val="0F6E64"/>
                </a:solidFill>
                <a:prstDash val="solid"/>
                <a:round/>
              </a:ln>
              <a:effectLst/>
            </c:spPr>
          </c:marker>
          <c:cat>
            <c:multiLvlStrRef>
              <c:f>Sheet1!$A$2:$A$11</c:f>
              <c:multiLvlStrCache>
                <c:ptCount val="10"/>
                <c:lvl>
                  <c:pt idx="0">
                    <c:v>10%</c:v>
                  </c:pt>
                  <c:pt idx="1">
                    <c:v>20%</c:v>
                  </c:pt>
                  <c:pt idx="2">
                    <c:v>30%</c:v>
                  </c:pt>
                  <c:pt idx="3">
                    <c:v>40%</c:v>
                  </c:pt>
                  <c:pt idx="4">
                    <c:v>50%</c:v>
                  </c:pt>
                  <c:pt idx="5">
                    <c:v>60%</c:v>
                  </c:pt>
                  <c:pt idx="6">
                    <c:v>70%</c:v>
                  </c:pt>
                  <c:pt idx="7">
                    <c:v>80%</c:v>
                  </c:pt>
                  <c:pt idx="8">
                    <c:v>90%</c:v>
                  </c:pt>
                  <c:pt idx="9">
                    <c:v>100%</c:v>
                  </c:pt>
                </c:lvl>
              </c:multiLvlStrCache>
            </c:multiLvlStrRef>
          </c:cat>
          <c:val>
            <c:numRef>
              <c:f>Sheet1!$B$2:$B$11</c:f>
              <c:numCache>
                <c:formatCode>General</c:formatCode>
                <c:ptCount val="10"/>
                <c:pt idx="0">
                  <c:v>93.8</c:v>
                </c:pt>
                <c:pt idx="1">
                  <c:v>91</c:v>
                </c:pt>
                <c:pt idx="2">
                  <c:v>85.4</c:v>
                </c:pt>
                <c:pt idx="3">
                  <c:v>84</c:v>
                </c:pt>
                <c:pt idx="4">
                  <c:v>81</c:v>
                </c:pt>
                <c:pt idx="5">
                  <c:v>78.4</c:v>
                </c:pt>
                <c:pt idx="6">
                  <c:v>75.6</c:v>
                </c:pt>
                <c:pt idx="7">
                  <c:v>71.6</c:v>
                </c:pt>
                <c:pt idx="8">
                  <c:v>67.2</c:v>
                </c:pt>
                <c:pt idx="9">
                  <c:v>63.1</c:v>
                </c:pt>
              </c:numCache>
            </c:numRef>
          </c:val>
          <c:smooth val="0"/>
        </c:ser>
        <c:dLbls>
          <c:numFmt formatCode="0.0" sourceLinked="0"/>
          <c:txPr>
            <a:bodyPr/>
            <a:lstStyle/>
            <a:p>
              <a:pPr>
                <a:defRPr b="0" i="0" strike="noStrike" sz="800" u="none">
                  <a:solidFill>
                    <a:srgbClr val="1C232B"/>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Auto-scoring every call regardless of confidence</c:v>
                </c:pt>
              </c:strCache>
            </c:strRef>
          </c:tx>
          <c:spPr>
            <a:solidFill>
              <a:srgbClr val="949DA6"/>
            </a:solidFill>
            <a:ln w="12700" cap="flat">
              <a:solidFill>
                <a:srgbClr val="949DA6"/>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49DA6"/>
              </a:solidFill>
              <a:ln w="9525" cap="flat">
                <a:solidFill>
                  <a:srgbClr val="949DA6"/>
                </a:solidFill>
                <a:prstDash val="solid"/>
                <a:round/>
              </a:ln>
              <a:effectLst/>
            </c:spPr>
          </c:marker>
          <c:cat>
            <c:multiLvlStrRef>
              <c:f>Sheet1!$A$2:$A$11</c:f>
              <c:multiLvlStrCache>
                <c:ptCount val="10"/>
                <c:lvl>
                  <c:pt idx="0">
                    <c:v>10%</c:v>
                  </c:pt>
                  <c:pt idx="1">
                    <c:v>20%</c:v>
                  </c:pt>
                  <c:pt idx="2">
                    <c:v>30%</c:v>
                  </c:pt>
                  <c:pt idx="3">
                    <c:v>40%</c:v>
                  </c:pt>
                  <c:pt idx="4">
                    <c:v>50%</c:v>
                  </c:pt>
                  <c:pt idx="5">
                    <c:v>60%</c:v>
                  </c:pt>
                  <c:pt idx="6">
                    <c:v>70%</c:v>
                  </c:pt>
                  <c:pt idx="7">
                    <c:v>80%</c:v>
                  </c:pt>
                  <c:pt idx="8">
                    <c:v>90%</c:v>
                  </c:pt>
                  <c:pt idx="9">
                    <c:v>100%</c:v>
                  </c:pt>
                </c:lvl>
              </c:multiLvlStrCache>
            </c:multiLvlStrRef>
          </c:cat>
          <c:val>
            <c:numRef>
              <c:f>Sheet1!$C$2:$C$11</c:f>
              <c:numCache>
                <c:formatCode>General</c:formatCode>
                <c:ptCount val="10"/>
                <c:pt idx="0">
                  <c:v>63.1</c:v>
                </c:pt>
                <c:pt idx="1">
                  <c:v>63.1</c:v>
                </c:pt>
                <c:pt idx="2">
                  <c:v>63.1</c:v>
                </c:pt>
                <c:pt idx="3">
                  <c:v>63.1</c:v>
                </c:pt>
                <c:pt idx="4">
                  <c:v>63.1</c:v>
                </c:pt>
                <c:pt idx="5">
                  <c:v>63.1</c:v>
                </c:pt>
                <c:pt idx="6">
                  <c:v>63.1</c:v>
                </c:pt>
                <c:pt idx="7">
                  <c:v>63.1</c:v>
                </c:pt>
                <c:pt idx="8">
                  <c:v>63.1</c:v>
                </c:pt>
                <c:pt idx="9">
                  <c:v>63.1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8626D"/>
                    </a:solidFill>
                    <a:latin typeface="Arial"/>
                  </a:defRPr>
                </a:pPr>
                <a:r>
                  <a:rPr sz="900" b="0" i="0" u="none" strike="noStrike">
                    <a:solidFill>
                      <a:srgbClr val="58626D"/>
                    </a:solidFill>
                    <a:latin typeface="Arial"/>
                  </a:rPr>
                  <a:t>Share of calls auto-scored, most confident first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8626D"/>
                </a:solidFill>
                <a:latin typeface="Calibri"/>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12700" cap="flat">
              <a:solidFill>
                <a:srgbClr val="DCE0E4"/>
              </a:solidFill>
              <a:prstDash val="solid"/>
              <a:round/>
            </a:ln>
          </c:spPr>
        </c:majorGridlines>
        <c:title>
          <c:tx>
            <c:rich>
              <a:bodyPr/>
              <a:lstStyle/>
              <a:p>
                <a:pPr>
                  <a:defRPr sz="900" b="0" i="0" u="none" strike="noStrike">
                    <a:solidFill>
                      <a:srgbClr val="58626D"/>
                    </a:solidFill>
                    <a:latin typeface="Arial"/>
                  </a:defRPr>
                </a:pPr>
                <a:r>
                  <a:rPr sz="900" b="0" i="0" u="none" strike="noStrike">
                    <a:solidFill>
                      <a:srgbClr val="58626D"/>
                    </a:solidFill>
                    <a:latin typeface="Arial"/>
                  </a:rPr>
                  <a:t>Accuracy on those calls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8626D"/>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58626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one accuracy number is the wrong unit for a deployment decision. Ranking calls by the model's own confidence turns 63.9% into a choice: automate the confident third at 85.4%, sample the middle, send the weakest third straight to a human. Note the bottom band scores 33.9% - the model is genuinely bad on those calls, and the useful behaviour is that it can tell you which ones they are. The supervisor sets one number, the confidence threshold, and everything else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457200"/>
          </a:xfrm>
          <a:prstGeom prst="rect">
            <a:avLst/>
          </a:prstGeom>
          <a:noFill/>
          <a:ln/>
        </p:spPr>
        <p:txBody>
          <a:bodyPr wrap="square" lIns="0" tIns="0" rIns="0" bIns="0" rtlCol="0" anchor="ctr"/>
          <a:lstStyle/>
          <a:p>
            <a:pPr indent="0" marL="0">
              <a:buNone/>
            </a:pPr>
            <a:r>
              <a:rPr lang="en-US" sz="3100" b="1" dirty="0">
                <a:solidFill>
                  <a:srgbClr val="1C232B"/>
                </a:solidFill>
                <a:latin typeface="Cambria" pitchFamily="34" charset="0"/>
                <a:ea typeface="Cambria" pitchFamily="34" charset="-122"/>
                <a:cs typeface="Cambria" pitchFamily="34" charset="-120"/>
              </a:rPr>
              <a:t>From One Accuracy Number to an Operating Decision</a:t>
            </a:r>
            <a:endParaRPr lang="en-US" sz="3100" dirty="0"/>
          </a:p>
        </p:txBody>
      </p:sp>
      <p:sp>
        <p:nvSpPr>
          <p:cNvPr id="3" name="Text 1"/>
          <p:cNvSpPr txBox="1"/>
          <p:nvPr/>
        </p:nvSpPr>
        <p:spPr>
          <a:xfrm>
            <a:off x="502920" y="768096"/>
            <a:ext cx="11155680" cy="274320"/>
          </a:xfrm>
          <a:prstGeom prst="rect">
            <a:avLst/>
          </a:prstGeom>
          <a:noFill/>
          <a:ln/>
        </p:spPr>
        <p:txBody>
          <a:bodyPr wrap="square" lIns="0" tIns="0" rIns="0" bIns="0" rtlCol="0" anchor="ctr"/>
          <a:lstStyle/>
          <a:p>
            <a:pPr indent="0" marL="0">
              <a:buNone/>
            </a:pPr>
            <a:r>
              <a:rPr lang="en-US" sz="1250" dirty="0">
                <a:solidFill>
                  <a:srgbClr val="58626D"/>
                </a:solidFill>
                <a:latin typeface="Calibri" pitchFamily="34" charset="0"/>
                <a:ea typeface="Calibri" pitchFamily="34" charset="-122"/>
                <a:cs typeface="Calibri" pitchFamily="34" charset="-120"/>
              </a:rPr>
              <a:t>The model scores every call. The supervisor's question is not "how accurate is it" but "how many calls can I let it close without me".</a:t>
            </a:r>
            <a:endParaRPr lang="en-US" sz="1250" dirty="0"/>
          </a:p>
        </p:txBody>
      </p:sp>
      <p:sp>
        <p:nvSpPr>
          <p:cNvPr id="4" name="Shape 2"/>
          <p:cNvSpPr/>
          <p:nvPr/>
        </p:nvSpPr>
        <p:spPr>
          <a:xfrm>
            <a:off x="502920" y="1115568"/>
            <a:ext cx="11183112" cy="621792"/>
          </a:xfrm>
          <a:prstGeom prst="rect">
            <a:avLst/>
          </a:prstGeom>
          <a:solidFill>
            <a:srgbClr val="F3F6F7"/>
          </a:solidFill>
          <a:ln w="12700">
            <a:solidFill>
              <a:srgbClr val="F3F6F7"/>
            </a:solidFill>
            <a:prstDash val="solid"/>
          </a:ln>
        </p:spPr>
      </p:sp>
      <p:sp>
        <p:nvSpPr>
          <p:cNvPr id="5" name="Text 3"/>
          <p:cNvSpPr txBox="1"/>
          <p:nvPr/>
        </p:nvSpPr>
        <p:spPr>
          <a:xfrm>
            <a:off x="685800" y="1188720"/>
            <a:ext cx="822960" cy="182880"/>
          </a:xfrm>
          <a:prstGeom prst="rect">
            <a:avLst/>
          </a:prstGeom>
          <a:noFill/>
          <a:ln/>
        </p:spPr>
        <p:txBody>
          <a:bodyPr wrap="square" lIns="0" tIns="0" rIns="0" bIns="0" rtlCol="0" anchor="ctr"/>
          <a:lstStyle/>
          <a:p>
            <a:pPr indent="0" marL="0">
              <a:buNone/>
            </a:pPr>
            <a:r>
              <a:rPr lang="en-US" sz="900" b="1" dirty="0">
                <a:solidFill>
                  <a:srgbClr val="B4531B"/>
                </a:solidFill>
                <a:latin typeface="Calibri" pitchFamily="34" charset="0"/>
                <a:ea typeface="Calibri" pitchFamily="34" charset="-122"/>
                <a:cs typeface="Calibri" pitchFamily="34" charset="-120"/>
              </a:rPr>
              <a:t>TODAY</a:t>
            </a:r>
            <a:endParaRPr lang="en-US" sz="900" dirty="0"/>
          </a:p>
        </p:txBody>
      </p:sp>
      <p:sp>
        <p:nvSpPr>
          <p:cNvPr id="6" name="Text 4"/>
          <p:cNvSpPr txBox="1"/>
          <p:nvPr/>
        </p:nvSpPr>
        <p:spPr>
          <a:xfrm>
            <a:off x="1554480" y="1188720"/>
            <a:ext cx="4434840" cy="475488"/>
          </a:xfrm>
          <a:prstGeom prst="rect">
            <a:avLst/>
          </a:prstGeom>
          <a:noFill/>
          <a:ln/>
        </p:spPr>
        <p:txBody>
          <a:bodyPr wrap="square" lIns="0" tIns="0" rIns="0" bIns="0" rtlCol="0" anchor="ctr"/>
          <a:lstStyle/>
          <a:p>
            <a:pPr indent="0" marL="0">
              <a:lnSpc>
                <a:spcPts val="1200"/>
              </a:lnSpc>
              <a:buNone/>
            </a:pPr>
            <a:r>
              <a:rPr lang="en-US" sz="1000" dirty="0">
                <a:solidFill>
                  <a:srgbClr val="58626D"/>
                </a:solidFill>
                <a:latin typeface="Calibri" pitchFamily="34" charset="0"/>
                <a:ea typeface="Calibri" pitchFamily="34" charset="-122"/>
                <a:cs typeface="Calibri" pitchFamily="34" charset="-120"/>
              </a:rPr>
              <a:t>A QA analyst hand-scores 1 to 5% of calls, chosen more or less arbitrarily. CSAT arrives days later from a survey few customers answer.</a:t>
            </a:r>
            <a:endParaRPr lang="en-US" sz="1000" dirty="0"/>
          </a:p>
        </p:txBody>
      </p:sp>
      <p:sp>
        <p:nvSpPr>
          <p:cNvPr id="7" name="Shape 5"/>
          <p:cNvSpPr/>
          <p:nvPr/>
        </p:nvSpPr>
        <p:spPr>
          <a:xfrm>
            <a:off x="6144768" y="1207008"/>
            <a:ext cx="0" cy="438912"/>
          </a:xfrm>
          <a:prstGeom prst="line">
            <a:avLst/>
          </a:prstGeom>
          <a:noFill/>
          <a:ln w="12700">
            <a:solidFill>
              <a:srgbClr val="DCE0E4"/>
            </a:solidFill>
            <a:prstDash val="solid"/>
          </a:ln>
        </p:spPr>
      </p:sp>
      <p:sp>
        <p:nvSpPr>
          <p:cNvPr id="8" name="Text 6"/>
          <p:cNvSpPr txBox="1"/>
          <p:nvPr/>
        </p:nvSpPr>
        <p:spPr>
          <a:xfrm>
            <a:off x="6327648" y="1188720"/>
            <a:ext cx="1005840" cy="182880"/>
          </a:xfrm>
          <a:prstGeom prst="rect">
            <a:avLst/>
          </a:prstGeom>
          <a:noFill/>
          <a:ln/>
        </p:spPr>
        <p:txBody>
          <a:bodyPr wrap="square" lIns="0" tIns="0" rIns="0" bIns="0" rtlCol="0" anchor="ctr"/>
          <a:lstStyle/>
          <a:p>
            <a:pPr indent="0" marL="0">
              <a:buNone/>
            </a:pPr>
            <a:r>
              <a:rPr lang="en-US" sz="900" b="1" dirty="0">
                <a:solidFill>
                  <a:srgbClr val="0F6E64"/>
                </a:solidFill>
                <a:latin typeface="Calibri" pitchFamily="34" charset="0"/>
                <a:ea typeface="Calibri" pitchFamily="34" charset="-122"/>
                <a:cs typeface="Calibri" pitchFamily="34" charset="-120"/>
              </a:rPr>
              <a:t>WITH SER</a:t>
            </a:r>
            <a:endParaRPr lang="en-US" sz="900" dirty="0"/>
          </a:p>
        </p:txBody>
      </p:sp>
      <p:sp>
        <p:nvSpPr>
          <p:cNvPr id="9" name="Text 7"/>
          <p:cNvSpPr txBox="1"/>
          <p:nvPr/>
        </p:nvSpPr>
        <p:spPr>
          <a:xfrm>
            <a:off x="7360920" y="1188720"/>
            <a:ext cx="4160520" cy="475488"/>
          </a:xfrm>
          <a:prstGeom prst="rect">
            <a:avLst/>
          </a:prstGeom>
          <a:noFill/>
          <a:ln/>
        </p:spPr>
        <p:txBody>
          <a:bodyPr wrap="square" lIns="0" tIns="0" rIns="0" bIns="0" rtlCol="0" anchor="ctr"/>
          <a:lstStyle/>
          <a:p>
            <a:pPr indent="0" marL="0">
              <a:lnSpc>
                <a:spcPts val="1200"/>
              </a:lnSpc>
              <a:buNone/>
            </a:pPr>
            <a:r>
              <a:rPr lang="en-US" sz="1000" dirty="0">
                <a:solidFill>
                  <a:srgbClr val="58626D"/>
                </a:solidFill>
                <a:latin typeface="Calibri" pitchFamily="34" charset="0"/>
                <a:ea typeface="Calibri" pitchFamily="34" charset="-122"/>
                <a:cs typeface="Calibri" pitchFamily="34" charset="-120"/>
              </a:rPr>
              <a:t>Every call is scored the moment it ends. Calls are then ranked by how confident the model is, so review effort goes where it is actually needed.</a:t>
            </a:r>
            <a:endParaRPr lang="en-US" sz="1000" dirty="0"/>
          </a:p>
        </p:txBody>
      </p:sp>
      <p:graphicFrame>
        <p:nvGraphicFramePr>
          <p:cNvPr id="10" name="Chart 0" descr=""/>
          <p:cNvGraphicFramePr/>
          <p:nvPr/>
        </p:nvGraphicFramePr>
        <p:xfrm>
          <a:off x="475488" y="1847088"/>
          <a:ext cx="6382512" cy="3529584"/>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502920" y="5376672"/>
            <a:ext cx="6309360" cy="384048"/>
          </a:xfrm>
          <a:prstGeom prst="rect">
            <a:avLst/>
          </a:prstGeom>
          <a:noFill/>
          <a:ln/>
        </p:spPr>
        <p:txBody>
          <a:bodyPr wrap="square" lIns="0" tIns="0" rIns="0" bIns="0" rtlCol="0" anchor="ctr"/>
          <a:lstStyle/>
          <a:p>
            <a:pPr indent="0" marL="0">
              <a:lnSpc>
                <a:spcPts val="1100"/>
              </a:lnSpc>
              <a:buNone/>
            </a:pPr>
            <a:r>
              <a:rPr lang="en-US" sz="900" dirty="0">
                <a:solidFill>
                  <a:srgbClr val="949DA6"/>
                </a:solidFill>
                <a:latin typeface="Calibri" pitchFamily="34" charset="0"/>
                <a:ea typeface="Calibri" pitchFamily="34" charset="-122"/>
                <a:cs typeface="Calibri" pitchFamily="34" charset="-120"/>
              </a:rPr>
              <a:t>Read left to right: hand the model fewer calls and it gets them right more often. Automating everything gives 63.1% (flat line); automating only the confident third gives 85.4%.</a:t>
            </a:r>
            <a:endParaRPr lang="en-US" sz="900" dirty="0"/>
          </a:p>
        </p:txBody>
      </p:sp>
      <p:sp>
        <p:nvSpPr>
          <p:cNvPr id="12" name="Text 9"/>
          <p:cNvSpPr txBox="1"/>
          <p:nvPr/>
        </p:nvSpPr>
        <p:spPr>
          <a:xfrm>
            <a:off x="7114032" y="1847088"/>
            <a:ext cx="4572000" cy="219456"/>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Who uses this, and to decide what</a:t>
            </a:r>
            <a:endParaRPr lang="en-US" sz="1300" dirty="0"/>
          </a:p>
        </p:txBody>
      </p:sp>
      <p:sp>
        <p:nvSpPr>
          <p:cNvPr id="13" name="Text 10"/>
          <p:cNvSpPr txBox="1"/>
          <p:nvPr/>
        </p:nvSpPr>
        <p:spPr>
          <a:xfrm>
            <a:off x="7114032" y="2103120"/>
            <a:ext cx="4572000" cy="658368"/>
          </a:xfrm>
          <a:prstGeom prst="rect">
            <a:avLst/>
          </a:prstGeom>
          <a:noFill/>
          <a:ln/>
        </p:spPr>
        <p:txBody>
          <a:bodyPr wrap="square" lIns="0" tIns="0" rIns="0" bIns="0" rtlCol="0" anchor="ctr"/>
          <a:lstStyle/>
          <a:p>
            <a:pPr indent="0" marL="0">
              <a:lnSpc>
                <a:spcPts val="1300"/>
              </a:lnSpc>
              <a:buNone/>
            </a:pPr>
            <a:r>
              <a:rPr lang="en-US" sz="1050" b="1" dirty="0">
                <a:solidFill>
                  <a:srgbClr val="1C232B"/>
                </a:solidFill>
                <a:latin typeface="Calibri" pitchFamily="34" charset="0"/>
                <a:ea typeface="Calibri" pitchFamily="34" charset="-122"/>
                <a:cs typeface="Calibri" pitchFamily="34" charset="-120"/>
              </a:rPr>
              <a:t>QA supervisor / CX operations lead. </a:t>
            </a:r>
            <a:pPr indent="0" marL="0">
              <a:lnSpc>
                <a:spcPts val="1300"/>
              </a:lnSpc>
              <a:buNone/>
            </a:pPr>
            <a:r>
              <a:rPr lang="en-US" sz="1050" dirty="0">
                <a:solidFill>
                  <a:srgbClr val="58626D"/>
                </a:solidFill>
                <a:latin typeface="Calibri" pitchFamily="34" charset="0"/>
                <a:ea typeface="Calibri" pitchFamily="34" charset="-122"/>
                <a:cs typeface="Calibri" pitchFamily="34" charset="-120"/>
              </a:rPr>
              <a:t>They set one number: the confidence threshold above which a call is scored automatically. That single choice fixes how much review capacity is freed and how much accuracy is given up.</a:t>
            </a:r>
            <a:endParaRPr lang="en-US" sz="1050" dirty="0"/>
          </a:p>
        </p:txBody>
      </p:sp>
      <p:sp>
        <p:nvSpPr>
          <p:cNvPr id="14" name="Text 11"/>
          <p:cNvSpPr txBox="1"/>
          <p:nvPr/>
        </p:nvSpPr>
        <p:spPr>
          <a:xfrm>
            <a:off x="7114032" y="2871216"/>
            <a:ext cx="4572000" cy="219456"/>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What the queue looks like at a 30% threshold</a:t>
            </a:r>
            <a:endParaRPr lang="en-US" sz="1300" dirty="0"/>
          </a:p>
        </p:txBody>
      </p:sp>
      <p:sp>
        <p:nvSpPr>
          <p:cNvPr id="15" name="Shape 12"/>
          <p:cNvSpPr/>
          <p:nvPr/>
        </p:nvSpPr>
        <p:spPr>
          <a:xfrm>
            <a:off x="7114032" y="3209544"/>
            <a:ext cx="118872" cy="118872"/>
          </a:xfrm>
          <a:prstGeom prst="ellipse">
            <a:avLst/>
          </a:prstGeom>
          <a:solidFill>
            <a:srgbClr val="0F6E64"/>
          </a:solidFill>
          <a:ln w="12700">
            <a:solidFill>
              <a:srgbClr val="0F6E64"/>
            </a:solidFill>
            <a:prstDash val="solid"/>
          </a:ln>
        </p:spPr>
      </p:sp>
      <p:sp>
        <p:nvSpPr>
          <p:cNvPr id="16" name="Text 13"/>
          <p:cNvSpPr txBox="1"/>
          <p:nvPr/>
        </p:nvSpPr>
        <p:spPr>
          <a:xfrm>
            <a:off x="7333488" y="3163824"/>
            <a:ext cx="1371600"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Auto-score</a:t>
            </a:r>
            <a:endParaRPr lang="en-US" sz="1100" dirty="0"/>
          </a:p>
        </p:txBody>
      </p:sp>
      <p:sp>
        <p:nvSpPr>
          <p:cNvPr id="17" name="Text 14"/>
          <p:cNvSpPr txBox="1"/>
          <p:nvPr/>
        </p:nvSpPr>
        <p:spPr>
          <a:xfrm>
            <a:off x="8732520" y="3163824"/>
            <a:ext cx="1005840" cy="201168"/>
          </a:xfrm>
          <a:prstGeom prst="rect">
            <a:avLst/>
          </a:prstGeom>
          <a:noFill/>
          <a:ln/>
        </p:spPr>
        <p:txBody>
          <a:bodyPr wrap="square" lIns="0" tIns="0" rIns="0" bIns="0" rtlCol="0" anchor="ctr"/>
          <a:lstStyle/>
          <a:p>
            <a:pPr indent="0" marL="0">
              <a:buNone/>
            </a:pPr>
            <a:r>
              <a:rPr lang="en-US" sz="1000" dirty="0">
                <a:solidFill>
                  <a:srgbClr val="58626D"/>
                </a:solidFill>
                <a:latin typeface="Calibri" pitchFamily="34" charset="0"/>
                <a:ea typeface="Calibri" pitchFamily="34" charset="-122"/>
                <a:cs typeface="Calibri" pitchFamily="34" charset="-120"/>
              </a:rPr>
              <a:t>30% of calls</a:t>
            </a:r>
            <a:endParaRPr lang="en-US" sz="1000" dirty="0"/>
          </a:p>
        </p:txBody>
      </p:sp>
      <p:sp>
        <p:nvSpPr>
          <p:cNvPr id="18" name="Text 15"/>
          <p:cNvSpPr txBox="1"/>
          <p:nvPr/>
        </p:nvSpPr>
        <p:spPr>
          <a:xfrm>
            <a:off x="9829800" y="3163824"/>
            <a:ext cx="1856232" cy="201168"/>
          </a:xfrm>
          <a:prstGeom prst="rect">
            <a:avLst/>
          </a:prstGeom>
          <a:noFill/>
          <a:ln/>
        </p:spPr>
        <p:txBody>
          <a:bodyPr wrap="square" lIns="0" tIns="0" rIns="0" bIns="0" rtlCol="0" anchor="ctr"/>
          <a:lstStyle/>
          <a:p>
            <a:pPr algn="r" indent="0" marL="0">
              <a:buNone/>
            </a:pPr>
            <a:r>
              <a:rPr lang="en-US" sz="1100" b="1" dirty="0">
                <a:solidFill>
                  <a:srgbClr val="0F6E64"/>
                </a:solidFill>
                <a:latin typeface="Calibri" pitchFamily="34" charset="0"/>
                <a:ea typeface="Calibri" pitchFamily="34" charset="-122"/>
                <a:cs typeface="Calibri" pitchFamily="34" charset="-120"/>
              </a:rPr>
              <a:t>85.4%</a:t>
            </a:r>
            <a:endParaRPr lang="en-US" sz="1100" dirty="0"/>
          </a:p>
        </p:txBody>
      </p:sp>
      <p:sp>
        <p:nvSpPr>
          <p:cNvPr id="19" name="Text 16"/>
          <p:cNvSpPr txBox="1"/>
          <p:nvPr/>
        </p:nvSpPr>
        <p:spPr>
          <a:xfrm>
            <a:off x="7333488" y="3364992"/>
            <a:ext cx="4352544" cy="384048"/>
          </a:xfrm>
          <a:prstGeom prst="rect">
            <a:avLst/>
          </a:prstGeom>
          <a:noFill/>
          <a:ln/>
        </p:spPr>
        <p:txBody>
          <a:bodyPr wrap="square" lIns="0" tIns="0" rIns="0" bIns="0" rtlCol="0" anchor="ctr"/>
          <a:lstStyle/>
          <a:p>
            <a:pPr indent="0" marL="0">
              <a:lnSpc>
                <a:spcPts val="1050"/>
              </a:lnSpc>
              <a:buNone/>
            </a:pPr>
            <a:r>
              <a:rPr lang="en-US" sz="900" dirty="0">
                <a:solidFill>
                  <a:srgbClr val="58626D"/>
                </a:solidFill>
                <a:latin typeface="Calibri" pitchFamily="34" charset="0"/>
                <a:ea typeface="Calibri" pitchFamily="34" charset="-122"/>
                <a:cs typeface="Calibri" pitchFamily="34" charset="-120"/>
              </a:rPr>
              <a:t>Closed without a human. 63 errors in 432 calls.</a:t>
            </a:r>
            <a:endParaRPr lang="en-US" sz="900" dirty="0"/>
          </a:p>
        </p:txBody>
      </p:sp>
      <p:sp>
        <p:nvSpPr>
          <p:cNvPr id="20" name="Shape 17"/>
          <p:cNvSpPr/>
          <p:nvPr/>
        </p:nvSpPr>
        <p:spPr>
          <a:xfrm>
            <a:off x="7114032" y="3867912"/>
            <a:ext cx="118872" cy="118872"/>
          </a:xfrm>
          <a:prstGeom prst="ellipse">
            <a:avLst/>
          </a:prstGeom>
          <a:solidFill>
            <a:srgbClr val="A16207"/>
          </a:solidFill>
          <a:ln w="12700">
            <a:solidFill>
              <a:srgbClr val="A16207"/>
            </a:solidFill>
            <a:prstDash val="solid"/>
          </a:ln>
        </p:spPr>
      </p:sp>
      <p:sp>
        <p:nvSpPr>
          <p:cNvPr id="21" name="Text 18"/>
          <p:cNvSpPr txBox="1"/>
          <p:nvPr/>
        </p:nvSpPr>
        <p:spPr>
          <a:xfrm>
            <a:off x="7333488" y="3822192"/>
            <a:ext cx="1371600"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Spot-check</a:t>
            </a:r>
            <a:endParaRPr lang="en-US" sz="1100" dirty="0"/>
          </a:p>
        </p:txBody>
      </p:sp>
      <p:sp>
        <p:nvSpPr>
          <p:cNvPr id="22" name="Text 19"/>
          <p:cNvSpPr txBox="1"/>
          <p:nvPr/>
        </p:nvSpPr>
        <p:spPr>
          <a:xfrm>
            <a:off x="8732520" y="3822192"/>
            <a:ext cx="1005840" cy="201168"/>
          </a:xfrm>
          <a:prstGeom prst="rect">
            <a:avLst/>
          </a:prstGeom>
          <a:noFill/>
          <a:ln/>
        </p:spPr>
        <p:txBody>
          <a:bodyPr wrap="square" lIns="0" tIns="0" rIns="0" bIns="0" rtlCol="0" anchor="ctr"/>
          <a:lstStyle/>
          <a:p>
            <a:pPr indent="0" marL="0">
              <a:buNone/>
            </a:pPr>
            <a:r>
              <a:rPr lang="en-US" sz="1000" dirty="0">
                <a:solidFill>
                  <a:srgbClr val="58626D"/>
                </a:solidFill>
                <a:latin typeface="Calibri" pitchFamily="34" charset="0"/>
                <a:ea typeface="Calibri" pitchFamily="34" charset="-122"/>
                <a:cs typeface="Calibri" pitchFamily="34" charset="-120"/>
              </a:rPr>
              <a:t>40% of calls</a:t>
            </a:r>
            <a:endParaRPr lang="en-US" sz="1000" dirty="0"/>
          </a:p>
        </p:txBody>
      </p:sp>
      <p:sp>
        <p:nvSpPr>
          <p:cNvPr id="23" name="Text 20"/>
          <p:cNvSpPr txBox="1"/>
          <p:nvPr/>
        </p:nvSpPr>
        <p:spPr>
          <a:xfrm>
            <a:off x="9829800" y="3822192"/>
            <a:ext cx="1856232" cy="201168"/>
          </a:xfrm>
          <a:prstGeom prst="rect">
            <a:avLst/>
          </a:prstGeom>
          <a:noFill/>
          <a:ln/>
        </p:spPr>
        <p:txBody>
          <a:bodyPr wrap="square" lIns="0" tIns="0" rIns="0" bIns="0" rtlCol="0" anchor="ctr"/>
          <a:lstStyle/>
          <a:p>
            <a:pPr algn="r" indent="0" marL="0">
              <a:buNone/>
            </a:pPr>
            <a:r>
              <a:rPr lang="en-US" sz="1100" b="1" dirty="0">
                <a:solidFill>
                  <a:srgbClr val="A16207"/>
                </a:solidFill>
                <a:latin typeface="Calibri" pitchFamily="34" charset="0"/>
                <a:ea typeface="Calibri" pitchFamily="34" charset="-122"/>
                <a:cs typeface="Calibri" pitchFamily="34" charset="-120"/>
              </a:rPr>
              <a:t>68.3%</a:t>
            </a:r>
            <a:endParaRPr lang="en-US" sz="1100" dirty="0"/>
          </a:p>
        </p:txBody>
      </p:sp>
      <p:sp>
        <p:nvSpPr>
          <p:cNvPr id="24" name="Text 21"/>
          <p:cNvSpPr txBox="1"/>
          <p:nvPr/>
        </p:nvSpPr>
        <p:spPr>
          <a:xfrm>
            <a:off x="7333488" y="4023360"/>
            <a:ext cx="4352544" cy="384048"/>
          </a:xfrm>
          <a:prstGeom prst="rect">
            <a:avLst/>
          </a:prstGeom>
          <a:noFill/>
          <a:ln/>
        </p:spPr>
        <p:txBody>
          <a:bodyPr wrap="square" lIns="0" tIns="0" rIns="0" bIns="0" rtlCol="0" anchor="ctr"/>
          <a:lstStyle/>
          <a:p>
            <a:pPr indent="0" marL="0">
              <a:lnSpc>
                <a:spcPts val="1050"/>
              </a:lnSpc>
              <a:buNone/>
            </a:pPr>
            <a:r>
              <a:rPr lang="en-US" sz="900" dirty="0">
                <a:solidFill>
                  <a:srgbClr val="58626D"/>
                </a:solidFill>
                <a:latin typeface="Calibri" pitchFamily="34" charset="0"/>
                <a:ea typeface="Calibri" pitchFamily="34" charset="-122"/>
                <a:cs typeface="Calibri" pitchFamily="34" charset="-120"/>
              </a:rPr>
              <a:t>Sampled for review, the way all calls are today.</a:t>
            </a:r>
            <a:endParaRPr lang="en-US" sz="900" dirty="0"/>
          </a:p>
        </p:txBody>
      </p:sp>
      <p:sp>
        <p:nvSpPr>
          <p:cNvPr id="25" name="Shape 22"/>
          <p:cNvSpPr/>
          <p:nvPr/>
        </p:nvSpPr>
        <p:spPr>
          <a:xfrm>
            <a:off x="7114032" y="4526280"/>
            <a:ext cx="118872" cy="118872"/>
          </a:xfrm>
          <a:prstGeom prst="ellipse">
            <a:avLst/>
          </a:prstGeom>
          <a:solidFill>
            <a:srgbClr val="B4531B"/>
          </a:solidFill>
          <a:ln w="12700">
            <a:solidFill>
              <a:srgbClr val="B4531B"/>
            </a:solidFill>
            <a:prstDash val="solid"/>
          </a:ln>
        </p:spPr>
      </p:sp>
      <p:sp>
        <p:nvSpPr>
          <p:cNvPr id="26" name="Text 23"/>
          <p:cNvSpPr txBox="1"/>
          <p:nvPr/>
        </p:nvSpPr>
        <p:spPr>
          <a:xfrm>
            <a:off x="7333488" y="4480560"/>
            <a:ext cx="1371600"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Always review</a:t>
            </a:r>
            <a:endParaRPr lang="en-US" sz="1100" dirty="0"/>
          </a:p>
        </p:txBody>
      </p:sp>
      <p:sp>
        <p:nvSpPr>
          <p:cNvPr id="27" name="Text 24"/>
          <p:cNvSpPr txBox="1"/>
          <p:nvPr/>
        </p:nvSpPr>
        <p:spPr>
          <a:xfrm>
            <a:off x="8732520" y="4480560"/>
            <a:ext cx="1005840" cy="201168"/>
          </a:xfrm>
          <a:prstGeom prst="rect">
            <a:avLst/>
          </a:prstGeom>
          <a:noFill/>
          <a:ln/>
        </p:spPr>
        <p:txBody>
          <a:bodyPr wrap="square" lIns="0" tIns="0" rIns="0" bIns="0" rtlCol="0" anchor="ctr"/>
          <a:lstStyle/>
          <a:p>
            <a:pPr indent="0" marL="0">
              <a:buNone/>
            </a:pPr>
            <a:r>
              <a:rPr lang="en-US" sz="1000" dirty="0">
                <a:solidFill>
                  <a:srgbClr val="58626D"/>
                </a:solidFill>
                <a:latin typeface="Calibri" pitchFamily="34" charset="0"/>
                <a:ea typeface="Calibri" pitchFamily="34" charset="-122"/>
                <a:cs typeface="Calibri" pitchFamily="34" charset="-120"/>
              </a:rPr>
              <a:t>30% of calls</a:t>
            </a:r>
            <a:endParaRPr lang="en-US" sz="1000" dirty="0"/>
          </a:p>
        </p:txBody>
      </p:sp>
      <p:sp>
        <p:nvSpPr>
          <p:cNvPr id="28" name="Text 25"/>
          <p:cNvSpPr txBox="1"/>
          <p:nvPr/>
        </p:nvSpPr>
        <p:spPr>
          <a:xfrm>
            <a:off x="9829800" y="4480560"/>
            <a:ext cx="1856232" cy="201168"/>
          </a:xfrm>
          <a:prstGeom prst="rect">
            <a:avLst/>
          </a:prstGeom>
          <a:noFill/>
          <a:ln/>
        </p:spPr>
        <p:txBody>
          <a:bodyPr wrap="square" lIns="0" tIns="0" rIns="0" bIns="0" rtlCol="0" anchor="ctr"/>
          <a:lstStyle/>
          <a:p>
            <a:pPr algn="r" indent="0" marL="0">
              <a:buNone/>
            </a:pPr>
            <a:r>
              <a:rPr lang="en-US" sz="1100" b="1" dirty="0">
                <a:solidFill>
                  <a:srgbClr val="B4531B"/>
                </a:solidFill>
                <a:latin typeface="Calibri" pitchFamily="34" charset="0"/>
                <a:ea typeface="Calibri" pitchFamily="34" charset="-122"/>
                <a:cs typeface="Calibri" pitchFamily="34" charset="-120"/>
              </a:rPr>
              <a:t>33.9%</a:t>
            </a:r>
            <a:endParaRPr lang="en-US" sz="1100" dirty="0"/>
          </a:p>
        </p:txBody>
      </p:sp>
      <p:sp>
        <p:nvSpPr>
          <p:cNvPr id="29" name="Text 26"/>
          <p:cNvSpPr txBox="1"/>
          <p:nvPr/>
        </p:nvSpPr>
        <p:spPr>
          <a:xfrm>
            <a:off x="7333488" y="4681728"/>
            <a:ext cx="4352544" cy="384048"/>
          </a:xfrm>
          <a:prstGeom prst="rect">
            <a:avLst/>
          </a:prstGeom>
          <a:noFill/>
          <a:ln/>
        </p:spPr>
        <p:txBody>
          <a:bodyPr wrap="square" lIns="0" tIns="0" rIns="0" bIns="0" rtlCol="0" anchor="ctr"/>
          <a:lstStyle/>
          <a:p>
            <a:pPr indent="0" marL="0">
              <a:lnSpc>
                <a:spcPts val="1050"/>
              </a:lnSpc>
              <a:buNone/>
            </a:pPr>
            <a:r>
              <a:rPr lang="en-US" sz="900" dirty="0">
                <a:solidFill>
                  <a:srgbClr val="58626D"/>
                </a:solidFill>
                <a:latin typeface="Calibri" pitchFamily="34" charset="0"/>
                <a:ea typeface="Calibri" pitchFamily="34" charset="-122"/>
                <a:cs typeface="Calibri" pitchFamily="34" charset="-120"/>
              </a:rPr>
              <a:t>Sent straight to a supervisor. The model flags its own weak cases.</a:t>
            </a:r>
            <a:endParaRPr lang="en-US" sz="900" dirty="0"/>
          </a:p>
        </p:txBody>
      </p:sp>
      <p:sp>
        <p:nvSpPr>
          <p:cNvPr id="30" name="Text 27"/>
          <p:cNvSpPr txBox="1"/>
          <p:nvPr/>
        </p:nvSpPr>
        <p:spPr>
          <a:xfrm>
            <a:off x="7114032" y="5175504"/>
            <a:ext cx="4572000" cy="585216"/>
          </a:xfrm>
          <a:prstGeom prst="rect">
            <a:avLst/>
          </a:prstGeom>
          <a:noFill/>
          <a:ln/>
        </p:spPr>
        <p:txBody>
          <a:bodyPr wrap="square" lIns="0" tIns="0" rIns="0" bIns="0" rtlCol="0" anchor="ctr"/>
          <a:lstStyle/>
          <a:p>
            <a:pPr indent="0" marL="0">
              <a:lnSpc>
                <a:spcPts val="1150"/>
              </a:lnSpc>
              <a:buNone/>
            </a:pPr>
            <a:r>
              <a:rPr lang="en-US" sz="950" b="1" dirty="0">
                <a:solidFill>
                  <a:srgbClr val="1C232B"/>
                </a:solidFill>
                <a:latin typeface="Calibri" pitchFamily="34" charset="0"/>
                <a:ea typeface="Calibri" pitchFamily="34" charset="-122"/>
                <a:cs typeface="Calibri" pitchFamily="34" charset="-120"/>
              </a:rPr>
              <a:t>Why this is safe to run today: </a:t>
            </a:r>
            <a:pPr indent="0" marL="0">
              <a:lnSpc>
                <a:spcPts val="1150"/>
              </a:lnSpc>
              <a:buNone/>
            </a:pPr>
            <a:r>
              <a:rPr lang="en-US" sz="950" dirty="0">
                <a:solidFill>
                  <a:srgbClr val="58626D"/>
                </a:solidFill>
                <a:latin typeface="Calibri" pitchFamily="34" charset="0"/>
                <a:ea typeface="Calibri" pitchFamily="34" charset="-122"/>
                <a:cs typeface="Calibri" pitchFamily="34" charset="-120"/>
              </a:rPr>
              <a:t>even when the model is wrong, 62% of its errors stay inside the correct arousal band against 43% by chance. It rarely mistakes a calm call for an angry one, so a misread call is unlikely to be a missed escalation.</a:t>
            </a:r>
            <a:endParaRPr lang="en-US" sz="950" dirty="0"/>
          </a:p>
        </p:txBody>
      </p:sp>
      <p:sp>
        <p:nvSpPr>
          <p:cNvPr id="31" name="Shape 28"/>
          <p:cNvSpPr/>
          <p:nvPr/>
        </p:nvSpPr>
        <p:spPr>
          <a:xfrm>
            <a:off x="502920" y="5870448"/>
            <a:ext cx="11183112" cy="475488"/>
          </a:xfrm>
          <a:prstGeom prst="rect">
            <a:avLst/>
          </a:prstGeom>
          <a:solidFill>
            <a:srgbClr val="F3F6F7"/>
          </a:solidFill>
          <a:ln w="12700">
            <a:solidFill>
              <a:srgbClr val="F3F6F7"/>
            </a:solidFill>
            <a:prstDash val="solid"/>
          </a:ln>
        </p:spPr>
      </p:sp>
      <p:sp>
        <p:nvSpPr>
          <p:cNvPr id="32" name="Text 29"/>
          <p:cNvSpPr txBox="1"/>
          <p:nvPr/>
        </p:nvSpPr>
        <p:spPr>
          <a:xfrm>
            <a:off x="658368" y="5961888"/>
            <a:ext cx="1417320" cy="292608"/>
          </a:xfrm>
          <a:prstGeom prst="rect">
            <a:avLst/>
          </a:prstGeom>
          <a:noFill/>
          <a:ln/>
        </p:spPr>
        <p:txBody>
          <a:bodyPr wrap="square" lIns="0" tIns="0" rIns="0" bIns="0" rtlCol="0" anchor="ctr"/>
          <a:lstStyle/>
          <a:p>
            <a:pPr indent="0" marL="0">
              <a:lnSpc>
                <a:spcPts val="1150"/>
              </a:lnSpc>
              <a:buNone/>
            </a:pPr>
            <a:r>
              <a:rPr lang="en-US" sz="1000" b="1" dirty="0">
                <a:solidFill>
                  <a:srgbClr val="1C232B"/>
                </a:solidFill>
                <a:latin typeface="Calibri" pitchFamily="34" charset="0"/>
                <a:ea typeface="Calibri" pitchFamily="34" charset="-122"/>
                <a:cs typeface="Calibri" pitchFamily="34" charset="-120"/>
              </a:rPr>
              <a:t>Supervisor console</a:t>
            </a:r>
            <a:endParaRPr lang="en-US" sz="1000" dirty="0"/>
          </a:p>
        </p:txBody>
      </p:sp>
      <p:sp>
        <p:nvSpPr>
          <p:cNvPr id="33" name="Shape 30"/>
          <p:cNvSpPr/>
          <p:nvPr/>
        </p:nvSpPr>
        <p:spPr>
          <a:xfrm>
            <a:off x="2212848" y="5989320"/>
            <a:ext cx="1792224" cy="246888"/>
          </a:xfrm>
          <a:prstGeom prst="roundRect">
            <a:avLst>
              <a:gd name="adj" fmla="val 14815"/>
            </a:avLst>
          </a:prstGeom>
          <a:solidFill>
            <a:srgbClr val="FFFFFF"/>
          </a:solidFill>
          <a:ln w="12700">
            <a:solidFill>
              <a:srgbClr val="DCE0E4"/>
            </a:solidFill>
            <a:prstDash val="solid"/>
          </a:ln>
        </p:spPr>
      </p:sp>
      <p:sp>
        <p:nvSpPr>
          <p:cNvPr id="34" name="Text 31"/>
          <p:cNvSpPr txBox="1"/>
          <p:nvPr/>
        </p:nvSpPr>
        <p:spPr>
          <a:xfrm>
            <a:off x="2267712" y="6007608"/>
            <a:ext cx="1682496" cy="210312"/>
          </a:xfrm>
          <a:prstGeom prst="rect">
            <a:avLst/>
          </a:prstGeom>
          <a:noFill/>
          <a:ln/>
        </p:spPr>
        <p:txBody>
          <a:bodyPr wrap="square" lIns="0" tIns="0" rIns="0" bIns="0" rtlCol="0" anchor="ctr"/>
          <a:lstStyle/>
          <a:p>
            <a:pPr indent="0" marL="0">
              <a:buNone/>
            </a:pPr>
            <a:r>
              <a:rPr lang="en-US" sz="750" dirty="0">
                <a:solidFill>
                  <a:srgbClr val="58626D"/>
                </a:solidFill>
                <a:latin typeface="Calibri" pitchFamily="34" charset="0"/>
                <a:ea typeface="Calibri" pitchFamily="34" charset="-122"/>
                <a:cs typeface="Calibri" pitchFamily="34" charset="-120"/>
              </a:rPr>
              <a:t>Confidence threshold — slider</a:t>
            </a:r>
            <a:endParaRPr lang="en-US" sz="750" dirty="0"/>
          </a:p>
        </p:txBody>
      </p:sp>
      <p:sp>
        <p:nvSpPr>
          <p:cNvPr id="35" name="Shape 32"/>
          <p:cNvSpPr/>
          <p:nvPr/>
        </p:nvSpPr>
        <p:spPr>
          <a:xfrm>
            <a:off x="4123944" y="5989320"/>
            <a:ext cx="1792224" cy="246888"/>
          </a:xfrm>
          <a:prstGeom prst="roundRect">
            <a:avLst>
              <a:gd name="adj" fmla="val 14815"/>
            </a:avLst>
          </a:prstGeom>
          <a:solidFill>
            <a:srgbClr val="FFFFFF"/>
          </a:solidFill>
          <a:ln w="12700">
            <a:solidFill>
              <a:srgbClr val="DCE0E4"/>
            </a:solidFill>
            <a:prstDash val="solid"/>
          </a:ln>
        </p:spPr>
      </p:sp>
      <p:sp>
        <p:nvSpPr>
          <p:cNvPr id="36" name="Text 33"/>
          <p:cNvSpPr txBox="1"/>
          <p:nvPr/>
        </p:nvSpPr>
        <p:spPr>
          <a:xfrm>
            <a:off x="4178808" y="6007608"/>
            <a:ext cx="1682496" cy="210312"/>
          </a:xfrm>
          <a:prstGeom prst="rect">
            <a:avLst/>
          </a:prstGeom>
          <a:noFill/>
          <a:ln/>
        </p:spPr>
        <p:txBody>
          <a:bodyPr wrap="square" lIns="0" tIns="0" rIns="0" bIns="0" rtlCol="0" anchor="ctr"/>
          <a:lstStyle/>
          <a:p>
            <a:pPr indent="0" marL="0">
              <a:buNone/>
            </a:pPr>
            <a:r>
              <a:rPr lang="en-US" sz="750" dirty="0">
                <a:solidFill>
                  <a:srgbClr val="58626D"/>
                </a:solidFill>
                <a:latin typeface="Calibri" pitchFamily="34" charset="0"/>
                <a:ea typeface="Calibri" pitchFamily="34" charset="-122"/>
                <a:cs typeface="Calibri" pitchFamily="34" charset="-120"/>
              </a:rPr>
              <a:t>Emotion class</a:t>
            </a:r>
            <a:endParaRPr lang="en-US" sz="750" dirty="0"/>
          </a:p>
        </p:txBody>
      </p:sp>
      <p:sp>
        <p:nvSpPr>
          <p:cNvPr id="37" name="Shape 34"/>
          <p:cNvSpPr/>
          <p:nvPr/>
        </p:nvSpPr>
        <p:spPr>
          <a:xfrm>
            <a:off x="6035040" y="5989320"/>
            <a:ext cx="1792224" cy="246888"/>
          </a:xfrm>
          <a:prstGeom prst="roundRect">
            <a:avLst>
              <a:gd name="adj" fmla="val 14815"/>
            </a:avLst>
          </a:prstGeom>
          <a:solidFill>
            <a:srgbClr val="FFFFFF"/>
          </a:solidFill>
          <a:ln w="12700">
            <a:solidFill>
              <a:srgbClr val="DCE0E4"/>
            </a:solidFill>
            <a:prstDash val="solid"/>
          </a:ln>
        </p:spPr>
      </p:sp>
      <p:sp>
        <p:nvSpPr>
          <p:cNvPr id="38" name="Text 35"/>
          <p:cNvSpPr txBox="1"/>
          <p:nvPr/>
        </p:nvSpPr>
        <p:spPr>
          <a:xfrm>
            <a:off x="6089904" y="6007608"/>
            <a:ext cx="1682496" cy="210312"/>
          </a:xfrm>
          <a:prstGeom prst="rect">
            <a:avLst/>
          </a:prstGeom>
          <a:noFill/>
          <a:ln/>
        </p:spPr>
        <p:txBody>
          <a:bodyPr wrap="square" lIns="0" tIns="0" rIns="0" bIns="0" rtlCol="0" anchor="ctr"/>
          <a:lstStyle/>
          <a:p>
            <a:pPr indent="0" marL="0">
              <a:buNone/>
            </a:pPr>
            <a:r>
              <a:rPr lang="en-US" sz="750" dirty="0">
                <a:solidFill>
                  <a:srgbClr val="58626D"/>
                </a:solidFill>
                <a:latin typeface="Calibri" pitchFamily="34" charset="0"/>
                <a:ea typeface="Calibri" pitchFamily="34" charset="-122"/>
                <a:cs typeface="Calibri" pitchFamily="34" charset="-120"/>
              </a:rPr>
              <a:t>Call intensity</a:t>
            </a:r>
            <a:endParaRPr lang="en-US" sz="750" dirty="0"/>
          </a:p>
        </p:txBody>
      </p:sp>
      <p:sp>
        <p:nvSpPr>
          <p:cNvPr id="39" name="Shape 36"/>
          <p:cNvSpPr/>
          <p:nvPr/>
        </p:nvSpPr>
        <p:spPr>
          <a:xfrm>
            <a:off x="7946136" y="5989320"/>
            <a:ext cx="1792224" cy="246888"/>
          </a:xfrm>
          <a:prstGeom prst="roundRect">
            <a:avLst>
              <a:gd name="adj" fmla="val 14815"/>
            </a:avLst>
          </a:prstGeom>
          <a:solidFill>
            <a:srgbClr val="FFFFFF"/>
          </a:solidFill>
          <a:ln w="12700">
            <a:solidFill>
              <a:srgbClr val="DCE0E4"/>
            </a:solidFill>
            <a:prstDash val="solid"/>
          </a:ln>
        </p:spPr>
      </p:sp>
      <p:sp>
        <p:nvSpPr>
          <p:cNvPr id="40" name="Text 37"/>
          <p:cNvSpPr txBox="1"/>
          <p:nvPr/>
        </p:nvSpPr>
        <p:spPr>
          <a:xfrm>
            <a:off x="8001000" y="6007608"/>
            <a:ext cx="1682496" cy="210312"/>
          </a:xfrm>
          <a:prstGeom prst="rect">
            <a:avLst/>
          </a:prstGeom>
          <a:noFill/>
          <a:ln/>
        </p:spPr>
        <p:txBody>
          <a:bodyPr wrap="square" lIns="0" tIns="0" rIns="0" bIns="0" rtlCol="0" anchor="ctr"/>
          <a:lstStyle/>
          <a:p>
            <a:pPr indent="0" marL="0">
              <a:buNone/>
            </a:pPr>
            <a:r>
              <a:rPr lang="en-US" sz="750" dirty="0">
                <a:solidFill>
                  <a:srgbClr val="58626D"/>
                </a:solidFill>
                <a:latin typeface="Calibri" pitchFamily="34" charset="0"/>
                <a:ea typeface="Calibri" pitchFamily="34" charset="-122"/>
                <a:cs typeface="Calibri" pitchFamily="34" charset="-120"/>
              </a:rPr>
              <a:t>Agent or team</a:t>
            </a:r>
            <a:endParaRPr lang="en-US" sz="750" dirty="0"/>
          </a:p>
        </p:txBody>
      </p:sp>
      <p:sp>
        <p:nvSpPr>
          <p:cNvPr id="41" name="Shape 38"/>
          <p:cNvSpPr/>
          <p:nvPr/>
        </p:nvSpPr>
        <p:spPr>
          <a:xfrm>
            <a:off x="9857232" y="5989320"/>
            <a:ext cx="1792224" cy="246888"/>
          </a:xfrm>
          <a:prstGeom prst="roundRect">
            <a:avLst>
              <a:gd name="adj" fmla="val 14815"/>
            </a:avLst>
          </a:prstGeom>
          <a:solidFill>
            <a:srgbClr val="FFFFFF"/>
          </a:solidFill>
          <a:ln w="12700">
            <a:solidFill>
              <a:srgbClr val="DCE0E4"/>
            </a:solidFill>
            <a:prstDash val="solid"/>
          </a:ln>
        </p:spPr>
      </p:sp>
      <p:sp>
        <p:nvSpPr>
          <p:cNvPr id="42" name="Text 39"/>
          <p:cNvSpPr txBox="1"/>
          <p:nvPr/>
        </p:nvSpPr>
        <p:spPr>
          <a:xfrm>
            <a:off x="9912096" y="6007608"/>
            <a:ext cx="1682496" cy="210312"/>
          </a:xfrm>
          <a:prstGeom prst="rect">
            <a:avLst/>
          </a:prstGeom>
          <a:noFill/>
          <a:ln/>
        </p:spPr>
        <p:txBody>
          <a:bodyPr wrap="square" lIns="0" tIns="0" rIns="0" bIns="0" rtlCol="0" anchor="ctr"/>
          <a:lstStyle/>
          <a:p>
            <a:pPr indent="0" marL="0">
              <a:buNone/>
            </a:pPr>
            <a:r>
              <a:rPr lang="en-US" sz="750" dirty="0">
                <a:solidFill>
                  <a:srgbClr val="58626D"/>
                </a:solidFill>
                <a:latin typeface="Calibri" pitchFamily="34" charset="0"/>
                <a:ea typeface="Calibri" pitchFamily="34" charset="-122"/>
                <a:cs typeface="Calibri" pitchFamily="34" charset="-120"/>
              </a:rPr>
              <a:t>Auto-scored / needs review</a:t>
            </a:r>
            <a:endParaRPr lang="en-US" sz="750" dirty="0"/>
          </a:p>
        </p:txBody>
      </p:sp>
      <p:sp>
        <p:nvSpPr>
          <p:cNvPr id="43" name="Text 40"/>
          <p:cNvSpPr txBox="1"/>
          <p:nvPr/>
        </p:nvSpPr>
        <p:spPr>
          <a:xfrm>
            <a:off x="502920" y="6455664"/>
            <a:ext cx="11155680" cy="256032"/>
          </a:xfrm>
          <a:prstGeom prst="rect">
            <a:avLst/>
          </a:prstGeom>
          <a:noFill/>
          <a:ln/>
        </p:spPr>
        <p:txBody>
          <a:bodyPr wrap="square" lIns="0" tIns="0" rIns="0" bIns="0" rtlCol="0" anchor="ctr"/>
          <a:lstStyle/>
          <a:p>
            <a:pPr indent="0" marL="0">
              <a:buNone/>
            </a:pPr>
            <a:r>
              <a:rPr lang="en-US" sz="850" dirty="0">
                <a:solidFill>
                  <a:srgbClr val="949DA6"/>
                </a:solidFill>
                <a:latin typeface="Calibri" pitchFamily="34" charset="0"/>
                <a:ea typeface="Calibri" pitchFamily="34" charset="-122"/>
                <a:cs typeface="Calibri" pitchFamily="34" charset="-120"/>
              </a:rPr>
              <a:t>Source: own analysis on RAVDESS (Livingstone and Russo, 2018). 1,440 clips, 5-fold speaker-held-out, pooled out-of-fold. Confidence is the model's own probability estimate; producing it requires calibration, which is why 100% coverage reads 63.1% against the 63.9% headline elsewhere in this deck.</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2026-09-05T08:02:46Z</dcterms:created>
  <dcterms:modified xsi:type="dcterms:W3CDTF">2026-09-05T08:02:46Z</dcterms:modified>
</cp:coreProperties>
</file>