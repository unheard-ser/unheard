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1C232B"/>
                </a:solidFill>
                <a:latin typeface="Calibri"/>
              </a:defRPr>
            </a:pPr>
            <a:r>
              <a:rPr sz="1150" b="0" i="0" u="none" strike="noStrike">
                <a:solidFill>
                  <a:srgbClr val="1C232B"/>
                </a:solidFill>
                <a:latin typeface="Calibri"/>
              </a:rPr>
              <a:t>Seven models, identical features, unseen speakers</a:t>
            </a:r>
          </a:p>
        </c:rich>
      </c:tx>
      <c:layout/>
      <c:overlay val="0"/>
    </c:title>
    <c:autoTitleDeleted val="0"/>
    <c:plotArea>
      <c:layout/>
      <c:barChart>
        <c:barDir val="bar"/>
        <c:grouping val="clustered"/>
        <c:varyColors val="0"/>
        <c:ser>
          <c:idx val="0"/>
          <c:order val="0"/>
          <c:tx>
            <c:strRef>
              <c:f>Sheet1!$B$1</c:f>
              <c:strCache>
                <c:ptCount val="1"/>
                <c:pt idx="0">
                  <c:v>Macro-F1</c:v>
                </c:pt>
              </c:strCache>
            </c:strRef>
          </c:tx>
          <c:spPr>
            <a:solidFill>
              <a:srgbClr val="0F6E64"/>
            </a:solidFill>
            <a:effectLst/>
          </c:spPr>
          <c:invertIfNegative val="0"/>
          <c:dLbls>
            <c:numFmt formatCode="0.000" sourceLinked="0"/>
            <c:txPr>
              <a:bodyPr/>
              <a:lstStyle/>
              <a:p>
                <a:pPr>
                  <a:defRPr b="0" i="0" strike="noStrike" sz="850" u="none">
                    <a:solidFill>
                      <a:srgbClr val="58626D"/>
                    </a:solidFill>
                    <a:latin typeface="Calibri"/>
                  </a:defRPr>
                </a:pPr>
              </a:p>
            </c:txPr>
            <c:showLegendKey val="0"/>
            <c:showVal val="1"/>
            <c:showCatName val="0"/>
            <c:showSerName val="0"/>
            <c:showPercent val="0"/>
            <c:showBubbleSize val="0"/>
            <c:showLeaderLines val="0"/>
          </c:dLbls>
          <c:cat>
            <c:multiLvlStrRef>
              <c:f>Sheet1!$A$2:$A$8</c:f>
              <c:multiLvlStrCache>
                <c:ptCount val="7"/>
                <c:lvl>
                  <c:pt idx="0">
                    <c:v>AdaBoost</c:v>
                  </c:pt>
                  <c:pt idx="1">
                    <c:v>KNN</c:v>
                  </c:pt>
                  <c:pt idx="2">
                    <c:v>Naive Bayes</c:v>
                  </c:pt>
                  <c:pt idx="3">
                    <c:v>Random forest</c:v>
                  </c:pt>
                  <c:pt idx="4">
                    <c:v>Logistic regression</c:v>
                  </c:pt>
                  <c:pt idx="5">
                    <c:v>XGBoost</c:v>
                  </c:pt>
                  <c:pt idx="6">
                    <c:v>SVM-RBF</c:v>
                  </c:pt>
                </c:lvl>
              </c:multiLvlStrCache>
            </c:multiLvlStrRef>
          </c:cat>
          <c:val>
            <c:numRef>
              <c:f>Sheet1!$B$2:$B$8</c:f>
              <c:numCache>
                <c:formatCode>General</c:formatCode>
                <c:ptCount val="7"/>
                <c:pt idx="0">
                  <c:v>0.45</c:v>
                </c:pt>
                <c:pt idx="1">
                  <c:v>0.46</c:v>
                </c:pt>
                <c:pt idx="2">
                  <c:v>0.507</c:v>
                </c:pt>
                <c:pt idx="3">
                  <c:v>0.549</c:v>
                </c:pt>
                <c:pt idx="4">
                  <c:v>0.593</c:v>
                </c:pt>
                <c:pt idx="5">
                  <c:v>0.596</c:v>
                </c:pt>
                <c:pt idx="6">
                  <c:v>0.631</c:v>
                </c:pt>
              </c:numCache>
            </c:numRef>
          </c:val>
        </c:ser>
        <c:dLbls>
          <c:numFmt formatCode="0.000" sourceLinked="0"/>
          <c:txPr>
            <a:bodyPr/>
            <a:lstStyle/>
            <a:p>
              <a:pPr>
                <a:defRPr b="0" i="0" strike="noStrike" sz="850" u="none">
                  <a:solidFill>
                    <a:srgbClr val="58626D"/>
                  </a:solidFill>
                  <a:latin typeface="Calibri"/>
                </a:defRPr>
              </a:pPr>
            </a:p>
          </c:txPr>
          <c:showLegendKey val="0"/>
          <c:showVal val="1"/>
          <c:showCatName val="0"/>
          <c:showSerName val="0"/>
          <c:showPercent val="0"/>
          <c:showBubbleSize val="0"/>
          <c:showLeaderLines val="0"/>
        </c:dLbls>
        <c:gapWidth val="42"/>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1C232B"/>
                </a:solidFill>
                <a:latin typeface="Calibri"/>
              </a:defRPr>
            </a:pPr>
            <a:endParaRPr lang="en-US"/>
          </a:p>
        </c:txPr>
        <c:crossAx val="2094734552"/>
        <c:crosses val="autoZero"/>
        <c:auto val="1"/>
        <c:lblAlgn val="ctr"/>
        <c:noMultiLvlLbl val="1"/>
      </c:catAx>
      <c:valAx>
        <c:axId val="2094734552"/>
        <c:scaling>
          <c:orientation val="minMax"/>
          <c:max val="0.8"/>
          <c:min val="0"/>
        </c:scaling>
        <c:delete val="0"/>
        <c:axPos val="b"/>
        <c:majorGridlines>
          <c:spPr>
            <a:ln w="12700" cap="flat">
              <a:solidFill>
                <a:srgbClr val="DCE0E4"/>
              </a:solidFill>
              <a:prstDash val="solid"/>
              <a:round/>
            </a:ln>
          </c:spPr>
        </c:majorGridlines>
        <c:title>
          <c:tx>
            <c:rich>
              <a:bodyPr/>
              <a:lstStyle/>
              <a:p>
                <a:pPr>
                  <a:defRPr sz="850" b="0" i="0" u="none" strike="noStrike">
                    <a:solidFill>
                      <a:srgbClr val="58626D"/>
                    </a:solidFill>
                    <a:latin typeface="Arial"/>
                  </a:defRPr>
                </a:pPr>
                <a:r>
                  <a:rPr sz="850" b="0" i="0" u="none" strike="noStrike">
                    <a:solidFill>
                      <a:srgbClr val="58626D"/>
                    </a:solidFill>
                    <a:latin typeface="Arial"/>
                  </a:rPr>
                  <a:t>Macro-F1 (0 to 1)</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850" b="0" i="0" u="none" strike="noStrike">
                <a:solidFill>
                  <a:srgbClr val="58626D"/>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sequencing is the point: folds and scoring were frozen before any model was fitted, so the leakage controls are structural rather than promised. Speaker dependence is our analogue of time dependence. Each planned approach attacks a weakness we measured rather than adding complexity for its own sake - the first addresses the fact that averaging destroys time order, the second attacks the leakage cause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here is held out, never training. SVM-RBF is the validated baseline at 0.633 macro-F1. The comparison against a random split is the headline: identical model and code, 11 points of inflation, and we identified the cause rather than inferring it. The failures are structured by arousal rather than random, which is what points the next phase at sequence models. If asked for the deployable number, it is 59.9% on normal-intensity speech.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457200"/>
          </a:xfrm>
          <a:prstGeom prst="rect">
            <a:avLst/>
          </a:prstGeom>
          <a:noFill/>
          <a:ln/>
        </p:spPr>
        <p:txBody>
          <a:bodyPr wrap="square" lIns="0" tIns="0" rIns="0" bIns="0" rtlCol="0" anchor="ctr"/>
          <a:lstStyle/>
          <a:p>
            <a:pPr indent="0" marL="0">
              <a:buNone/>
            </a:pPr>
            <a:r>
              <a:rPr lang="en-US" sz="3100" b="1" dirty="0">
                <a:solidFill>
                  <a:srgbClr val="1C232B"/>
                </a:solidFill>
                <a:latin typeface="Cambria" pitchFamily="34" charset="0"/>
                <a:ea typeface="Cambria" pitchFamily="34" charset="-122"/>
                <a:cs typeface="Cambria" pitchFamily="34" charset="-120"/>
              </a:rPr>
              <a:t>Models and Analytical Approach</a:t>
            </a:r>
            <a:endParaRPr lang="en-US" sz="3100" dirty="0"/>
          </a:p>
        </p:txBody>
      </p:sp>
      <p:sp>
        <p:nvSpPr>
          <p:cNvPr id="3" name="Text 1"/>
          <p:cNvSpPr txBox="1"/>
          <p:nvPr/>
        </p:nvSpPr>
        <p:spPr>
          <a:xfrm>
            <a:off x="502920" y="786384"/>
            <a:ext cx="11155680" cy="274320"/>
          </a:xfrm>
          <a:prstGeom prst="rect">
            <a:avLst/>
          </a:prstGeom>
          <a:noFill/>
          <a:ln/>
        </p:spPr>
        <p:txBody>
          <a:bodyPr wrap="square" lIns="0" tIns="0" rIns="0" bIns="0" rtlCol="0" anchor="ctr"/>
          <a:lstStyle/>
          <a:p>
            <a:pPr indent="0" marL="0">
              <a:buNone/>
            </a:pPr>
            <a:r>
              <a:rPr lang="en-US" sz="1250" dirty="0">
                <a:solidFill>
                  <a:srgbClr val="58626D"/>
                </a:solidFill>
                <a:latin typeface="Calibri" pitchFamily="34" charset="0"/>
                <a:ea typeface="Calibri" pitchFamily="34" charset="-122"/>
                <a:cs typeface="Calibri" pitchFamily="34" charset="-120"/>
              </a:rPr>
              <a:t>Baseline built and validated. Advanced approaches chosen to attack limitations we measured, not to add complexity.</a:t>
            </a:r>
            <a:endParaRPr lang="en-US" sz="1250" dirty="0"/>
          </a:p>
        </p:txBody>
      </p:sp>
      <p:sp>
        <p:nvSpPr>
          <p:cNvPr id="4" name="Shape 2"/>
          <p:cNvSpPr/>
          <p:nvPr/>
        </p:nvSpPr>
        <p:spPr>
          <a:xfrm>
            <a:off x="502920" y="1188720"/>
            <a:ext cx="1769364" cy="969264"/>
          </a:xfrm>
          <a:prstGeom prst="roundRect">
            <a:avLst>
              <a:gd name="adj" fmla="val 4717"/>
            </a:avLst>
          </a:prstGeom>
          <a:solidFill>
            <a:srgbClr val="F3F6F7"/>
          </a:solidFill>
          <a:ln w="12700">
            <a:solidFill>
              <a:srgbClr val="DCE0E4"/>
            </a:solidFill>
            <a:prstDash val="solid"/>
          </a:ln>
        </p:spPr>
      </p:sp>
      <p:sp>
        <p:nvSpPr>
          <p:cNvPr id="5" name="Text 3"/>
          <p:cNvSpPr txBox="1"/>
          <p:nvPr/>
        </p:nvSpPr>
        <p:spPr>
          <a:xfrm>
            <a:off x="502920" y="1271016"/>
            <a:ext cx="1769364" cy="201168"/>
          </a:xfrm>
          <a:prstGeom prst="rect">
            <a:avLst/>
          </a:prstGeom>
          <a:noFill/>
          <a:ln/>
        </p:spPr>
        <p:txBody>
          <a:bodyPr wrap="square" lIns="0" tIns="0" rIns="0" bIns="0" rtlCol="0" anchor="ctr"/>
          <a:lstStyle/>
          <a:p>
            <a:pPr algn="ctr" indent="0" marL="0">
              <a:buNone/>
            </a:pPr>
            <a:r>
              <a:rPr lang="en-US" sz="1100" b="1" dirty="0">
                <a:solidFill>
                  <a:srgbClr val="1C232B"/>
                </a:solidFill>
                <a:latin typeface="Calibri" pitchFamily="34" charset="0"/>
                <a:ea typeface="Calibri" pitchFamily="34" charset="-122"/>
                <a:cs typeface="Calibri" pitchFamily="34" charset="-120"/>
              </a:rPr>
              <a:t>Audio</a:t>
            </a:r>
            <a:endParaRPr lang="en-US" sz="1100" dirty="0"/>
          </a:p>
        </p:txBody>
      </p:sp>
      <p:sp>
        <p:nvSpPr>
          <p:cNvPr id="6" name="Text 4"/>
          <p:cNvSpPr txBox="1"/>
          <p:nvPr/>
        </p:nvSpPr>
        <p:spPr>
          <a:xfrm>
            <a:off x="548640" y="1490472"/>
            <a:ext cx="1677924" cy="603504"/>
          </a:xfrm>
          <a:prstGeom prst="rect">
            <a:avLst/>
          </a:prstGeom>
          <a:noFill/>
          <a:ln/>
        </p:spPr>
        <p:txBody>
          <a:bodyPr wrap="square" lIns="0" tIns="0" rIns="0" bIns="0" rtlCol="0" anchor="ctr"/>
          <a:lstStyle/>
          <a:p>
            <a:pPr algn="ctr" indent="0" marL="0">
              <a:lnSpc>
                <a:spcPts val="1050"/>
              </a:lnSpc>
              <a:buNone/>
            </a:pPr>
            <a:r>
              <a:rPr lang="en-US" sz="850" dirty="0">
                <a:solidFill>
                  <a:srgbClr val="58626D"/>
                </a:solidFill>
                <a:latin typeface="Calibri" pitchFamily="34" charset="0"/>
                <a:ea typeface="Calibri" pitchFamily="34" charset="-122"/>
                <a:cs typeface="Calibri" pitchFamily="34" charset="-120"/>
              </a:rPr>
              <a:t>1,440 clips</a:t>
            </a:r>
            <a:endParaRPr lang="en-US" sz="850" dirty="0"/>
          </a:p>
          <a:p>
            <a:pPr algn="ctr" indent="0" marL="0">
              <a:lnSpc>
                <a:spcPts val="1050"/>
              </a:lnSpc>
              <a:buNone/>
            </a:pPr>
            <a:r>
              <a:rPr lang="en-US" sz="850" dirty="0">
                <a:solidFill>
                  <a:srgbClr val="58626D"/>
                </a:solidFill>
                <a:latin typeface="Calibri" pitchFamily="34" charset="0"/>
                <a:ea typeface="Calibri" pitchFamily="34" charset="-122"/>
                <a:cs typeface="Calibri" pitchFamily="34" charset="-120"/>
              </a:rPr>
              <a:t>48 kHz</a:t>
            </a:r>
            <a:endParaRPr lang="en-US" sz="850" dirty="0"/>
          </a:p>
        </p:txBody>
      </p:sp>
      <p:sp>
        <p:nvSpPr>
          <p:cNvPr id="7" name="Shape 5"/>
          <p:cNvSpPr/>
          <p:nvPr/>
        </p:nvSpPr>
        <p:spPr>
          <a:xfrm>
            <a:off x="2391156" y="1188720"/>
            <a:ext cx="1769364" cy="969264"/>
          </a:xfrm>
          <a:prstGeom prst="roundRect">
            <a:avLst>
              <a:gd name="adj" fmla="val 4717"/>
            </a:avLst>
          </a:prstGeom>
          <a:solidFill>
            <a:srgbClr val="F3F6F7"/>
          </a:solidFill>
          <a:ln w="12700">
            <a:solidFill>
              <a:srgbClr val="DCE0E4"/>
            </a:solidFill>
            <a:prstDash val="solid"/>
          </a:ln>
        </p:spPr>
      </p:sp>
      <p:sp>
        <p:nvSpPr>
          <p:cNvPr id="8" name="Text 6"/>
          <p:cNvSpPr txBox="1"/>
          <p:nvPr/>
        </p:nvSpPr>
        <p:spPr>
          <a:xfrm>
            <a:off x="2391156" y="1271016"/>
            <a:ext cx="1769364" cy="201168"/>
          </a:xfrm>
          <a:prstGeom prst="rect">
            <a:avLst/>
          </a:prstGeom>
          <a:noFill/>
          <a:ln/>
        </p:spPr>
        <p:txBody>
          <a:bodyPr wrap="square" lIns="0" tIns="0" rIns="0" bIns="0" rtlCol="0" anchor="ctr"/>
          <a:lstStyle/>
          <a:p>
            <a:pPr algn="ctr" indent="0" marL="0">
              <a:buNone/>
            </a:pPr>
            <a:r>
              <a:rPr lang="en-US" sz="1100" b="1" dirty="0">
                <a:solidFill>
                  <a:srgbClr val="1C232B"/>
                </a:solidFill>
                <a:latin typeface="Calibri" pitchFamily="34" charset="0"/>
                <a:ea typeface="Calibri" pitchFamily="34" charset="-122"/>
                <a:cs typeface="Calibri" pitchFamily="34" charset="-120"/>
              </a:rPr>
              <a:t>Preprocess</a:t>
            </a:r>
            <a:endParaRPr lang="en-US" sz="1100" dirty="0"/>
          </a:p>
        </p:txBody>
      </p:sp>
      <p:sp>
        <p:nvSpPr>
          <p:cNvPr id="9" name="Text 7"/>
          <p:cNvSpPr txBox="1"/>
          <p:nvPr/>
        </p:nvSpPr>
        <p:spPr>
          <a:xfrm>
            <a:off x="2436876" y="1490472"/>
            <a:ext cx="1677924" cy="603504"/>
          </a:xfrm>
          <a:prstGeom prst="rect">
            <a:avLst/>
          </a:prstGeom>
          <a:noFill/>
          <a:ln/>
        </p:spPr>
        <p:txBody>
          <a:bodyPr wrap="square" lIns="0" tIns="0" rIns="0" bIns="0" rtlCol="0" anchor="ctr"/>
          <a:lstStyle/>
          <a:p>
            <a:pPr algn="ctr" indent="0" marL="0">
              <a:lnSpc>
                <a:spcPts val="1050"/>
              </a:lnSpc>
              <a:buNone/>
            </a:pPr>
            <a:r>
              <a:rPr lang="en-US" sz="850" dirty="0">
                <a:solidFill>
                  <a:srgbClr val="58626D"/>
                </a:solidFill>
                <a:latin typeface="Calibri" pitchFamily="34" charset="0"/>
                <a:ea typeface="Calibri" pitchFamily="34" charset="-122"/>
                <a:cs typeface="Calibri" pitchFamily="34" charset="-120"/>
              </a:rPr>
              <a:t>mono, 16 kHz</a:t>
            </a:r>
            <a:endParaRPr lang="en-US" sz="850" dirty="0"/>
          </a:p>
          <a:p>
            <a:pPr algn="ctr" indent="0" marL="0">
              <a:lnSpc>
                <a:spcPts val="1050"/>
              </a:lnSpc>
              <a:buNone/>
            </a:pPr>
            <a:r>
              <a:rPr lang="en-US" sz="850" dirty="0">
                <a:solidFill>
                  <a:srgbClr val="58626D"/>
                </a:solidFill>
                <a:latin typeface="Calibri" pitchFamily="34" charset="0"/>
                <a:ea typeface="Calibri" pitchFamily="34" charset="-122"/>
                <a:cs typeface="Calibri" pitchFamily="34" charset="-120"/>
              </a:rPr>
              <a:t>silence trimmed</a:t>
            </a:r>
            <a:endParaRPr lang="en-US" sz="850" dirty="0"/>
          </a:p>
        </p:txBody>
      </p:sp>
      <p:sp>
        <p:nvSpPr>
          <p:cNvPr id="10" name="Shape 8"/>
          <p:cNvSpPr/>
          <p:nvPr/>
        </p:nvSpPr>
        <p:spPr>
          <a:xfrm>
            <a:off x="4279392" y="1188720"/>
            <a:ext cx="1769364" cy="969264"/>
          </a:xfrm>
          <a:prstGeom prst="roundRect">
            <a:avLst>
              <a:gd name="adj" fmla="val 4717"/>
            </a:avLst>
          </a:prstGeom>
          <a:solidFill>
            <a:srgbClr val="F3F6F7"/>
          </a:solidFill>
          <a:ln w="12700">
            <a:solidFill>
              <a:srgbClr val="DCE0E4"/>
            </a:solidFill>
            <a:prstDash val="solid"/>
          </a:ln>
        </p:spPr>
      </p:sp>
      <p:sp>
        <p:nvSpPr>
          <p:cNvPr id="11" name="Text 9"/>
          <p:cNvSpPr txBox="1"/>
          <p:nvPr/>
        </p:nvSpPr>
        <p:spPr>
          <a:xfrm>
            <a:off x="4279392" y="1271016"/>
            <a:ext cx="1769364" cy="201168"/>
          </a:xfrm>
          <a:prstGeom prst="rect">
            <a:avLst/>
          </a:prstGeom>
          <a:noFill/>
          <a:ln/>
        </p:spPr>
        <p:txBody>
          <a:bodyPr wrap="square" lIns="0" tIns="0" rIns="0" bIns="0" rtlCol="0" anchor="ctr"/>
          <a:lstStyle/>
          <a:p>
            <a:pPr algn="ctr" indent="0" marL="0">
              <a:buNone/>
            </a:pPr>
            <a:r>
              <a:rPr lang="en-US" sz="1100" b="1" dirty="0">
                <a:solidFill>
                  <a:srgbClr val="1C232B"/>
                </a:solidFill>
                <a:latin typeface="Calibri" pitchFamily="34" charset="0"/>
                <a:ea typeface="Calibri" pitchFamily="34" charset="-122"/>
                <a:cs typeface="Calibri" pitchFamily="34" charset="-120"/>
              </a:rPr>
              <a:t>Features</a:t>
            </a:r>
            <a:endParaRPr lang="en-US" sz="1100" dirty="0"/>
          </a:p>
        </p:txBody>
      </p:sp>
      <p:sp>
        <p:nvSpPr>
          <p:cNvPr id="12" name="Text 10"/>
          <p:cNvSpPr txBox="1"/>
          <p:nvPr/>
        </p:nvSpPr>
        <p:spPr>
          <a:xfrm>
            <a:off x="4325112" y="1490472"/>
            <a:ext cx="1677924" cy="603504"/>
          </a:xfrm>
          <a:prstGeom prst="rect">
            <a:avLst/>
          </a:prstGeom>
          <a:noFill/>
          <a:ln/>
        </p:spPr>
        <p:txBody>
          <a:bodyPr wrap="square" lIns="0" tIns="0" rIns="0" bIns="0" rtlCol="0" anchor="ctr"/>
          <a:lstStyle/>
          <a:p>
            <a:pPr algn="ctr" indent="0" marL="0">
              <a:lnSpc>
                <a:spcPts val="1050"/>
              </a:lnSpc>
              <a:buNone/>
            </a:pPr>
            <a:r>
              <a:rPr lang="en-US" sz="850" dirty="0">
                <a:solidFill>
                  <a:srgbClr val="58626D"/>
                </a:solidFill>
                <a:latin typeface="Calibri" pitchFamily="34" charset="0"/>
                <a:ea typeface="Calibri" pitchFamily="34" charset="-122"/>
                <a:cs typeface="Calibri" pitchFamily="34" charset="-120"/>
              </a:rPr>
              <a:t>162 per clip</a:t>
            </a:r>
            <a:endParaRPr lang="en-US" sz="850" dirty="0"/>
          </a:p>
          <a:p>
            <a:pPr algn="ctr" indent="0" marL="0">
              <a:lnSpc>
                <a:spcPts val="1050"/>
              </a:lnSpc>
              <a:buNone/>
            </a:pPr>
            <a:r>
              <a:rPr lang="en-US" sz="850" dirty="0">
                <a:solidFill>
                  <a:srgbClr val="58626D"/>
                </a:solidFill>
                <a:latin typeface="Calibri" pitchFamily="34" charset="0"/>
                <a:ea typeface="Calibri" pitchFamily="34" charset="-122"/>
                <a:cs typeface="Calibri" pitchFamily="34" charset="-120"/>
              </a:rPr>
              <a:t>MFCC + delta,</a:t>
            </a:r>
            <a:endParaRPr lang="en-US" sz="850" dirty="0"/>
          </a:p>
          <a:p>
            <a:pPr algn="ctr" indent="0" marL="0">
              <a:lnSpc>
                <a:spcPts val="1050"/>
              </a:lnSpc>
              <a:buNone/>
            </a:pPr>
            <a:r>
              <a:rPr lang="en-US" sz="850" dirty="0">
                <a:solidFill>
                  <a:srgbClr val="58626D"/>
                </a:solidFill>
                <a:latin typeface="Calibri" pitchFamily="34" charset="0"/>
                <a:ea typeface="Calibri" pitchFamily="34" charset="-122"/>
                <a:cs typeface="Calibri" pitchFamily="34" charset="-120"/>
              </a:rPr>
              <a:t>chroma, contrast,</a:t>
            </a:r>
            <a:endParaRPr lang="en-US" sz="850" dirty="0"/>
          </a:p>
          <a:p>
            <a:pPr algn="ctr" indent="0" marL="0">
              <a:lnSpc>
                <a:spcPts val="1050"/>
              </a:lnSpc>
              <a:buNone/>
            </a:pPr>
            <a:r>
              <a:rPr lang="en-US" sz="850" dirty="0">
                <a:solidFill>
                  <a:srgbClr val="58626D"/>
                </a:solidFill>
                <a:latin typeface="Calibri" pitchFamily="34" charset="0"/>
                <a:ea typeface="Calibri" pitchFamily="34" charset="-122"/>
                <a:cs typeface="Calibri" pitchFamily="34" charset="-120"/>
              </a:rPr>
              <a:t>centroid, ZCR</a:t>
            </a:r>
            <a:endParaRPr lang="en-US" sz="850" dirty="0"/>
          </a:p>
        </p:txBody>
      </p:sp>
      <p:sp>
        <p:nvSpPr>
          <p:cNvPr id="13" name="Shape 11"/>
          <p:cNvSpPr/>
          <p:nvPr/>
        </p:nvSpPr>
        <p:spPr>
          <a:xfrm>
            <a:off x="6167628" y="1188720"/>
            <a:ext cx="1769364" cy="969264"/>
          </a:xfrm>
          <a:prstGeom prst="roundRect">
            <a:avLst>
              <a:gd name="adj" fmla="val 4717"/>
            </a:avLst>
          </a:prstGeom>
          <a:solidFill>
            <a:srgbClr val="F3F6F7"/>
          </a:solidFill>
          <a:ln w="12700">
            <a:solidFill>
              <a:srgbClr val="DCE0E4"/>
            </a:solidFill>
            <a:prstDash val="solid"/>
          </a:ln>
        </p:spPr>
      </p:sp>
      <p:sp>
        <p:nvSpPr>
          <p:cNvPr id="14" name="Text 12"/>
          <p:cNvSpPr txBox="1"/>
          <p:nvPr/>
        </p:nvSpPr>
        <p:spPr>
          <a:xfrm>
            <a:off x="6167628" y="1271016"/>
            <a:ext cx="1769364" cy="201168"/>
          </a:xfrm>
          <a:prstGeom prst="rect">
            <a:avLst/>
          </a:prstGeom>
          <a:noFill/>
          <a:ln/>
        </p:spPr>
        <p:txBody>
          <a:bodyPr wrap="square" lIns="0" tIns="0" rIns="0" bIns="0" rtlCol="0" anchor="ctr"/>
          <a:lstStyle/>
          <a:p>
            <a:pPr algn="ctr" indent="0" marL="0">
              <a:buNone/>
            </a:pPr>
            <a:r>
              <a:rPr lang="en-US" sz="1100" b="1" dirty="0">
                <a:solidFill>
                  <a:srgbClr val="1C232B"/>
                </a:solidFill>
                <a:latin typeface="Calibri" pitchFamily="34" charset="0"/>
                <a:ea typeface="Calibri" pitchFamily="34" charset="-122"/>
                <a:cs typeface="Calibri" pitchFamily="34" charset="-120"/>
              </a:rPr>
              <a:t>Normalise</a:t>
            </a:r>
            <a:endParaRPr lang="en-US" sz="1100" dirty="0"/>
          </a:p>
        </p:txBody>
      </p:sp>
      <p:sp>
        <p:nvSpPr>
          <p:cNvPr id="15" name="Text 13"/>
          <p:cNvSpPr txBox="1"/>
          <p:nvPr/>
        </p:nvSpPr>
        <p:spPr>
          <a:xfrm>
            <a:off x="6213348" y="1490472"/>
            <a:ext cx="1677924" cy="603504"/>
          </a:xfrm>
          <a:prstGeom prst="rect">
            <a:avLst/>
          </a:prstGeom>
          <a:noFill/>
          <a:ln/>
        </p:spPr>
        <p:txBody>
          <a:bodyPr wrap="square" lIns="0" tIns="0" rIns="0" bIns="0" rtlCol="0" anchor="ctr"/>
          <a:lstStyle/>
          <a:p>
            <a:pPr algn="ctr" indent="0" marL="0">
              <a:lnSpc>
                <a:spcPts val="1050"/>
              </a:lnSpc>
              <a:buNone/>
            </a:pPr>
            <a:r>
              <a:rPr lang="en-US" sz="850" dirty="0">
                <a:solidFill>
                  <a:srgbClr val="58626D"/>
                </a:solidFill>
                <a:latin typeface="Calibri" pitchFamily="34" charset="0"/>
                <a:ea typeface="Calibri" pitchFamily="34" charset="-122"/>
                <a:cs typeface="Calibri" pitchFamily="34" charset="-120"/>
              </a:rPr>
              <a:t>per-speaker</a:t>
            </a:r>
            <a:endParaRPr lang="en-US" sz="850" dirty="0"/>
          </a:p>
          <a:p>
            <a:pPr algn="ctr" indent="0" marL="0">
              <a:lnSpc>
                <a:spcPts val="1050"/>
              </a:lnSpc>
              <a:buNone/>
            </a:pPr>
            <a:r>
              <a:rPr lang="en-US" sz="850" dirty="0">
                <a:solidFill>
                  <a:srgbClr val="58626D"/>
                </a:solidFill>
                <a:latin typeface="Calibri" pitchFamily="34" charset="0"/>
                <a:ea typeface="Calibri" pitchFamily="34" charset="-122"/>
                <a:cs typeface="Calibri" pitchFamily="34" charset="-120"/>
              </a:rPr>
              <a:t>z-score</a:t>
            </a:r>
            <a:endParaRPr lang="en-US" sz="850" dirty="0"/>
          </a:p>
        </p:txBody>
      </p:sp>
      <p:sp>
        <p:nvSpPr>
          <p:cNvPr id="16" name="Shape 14"/>
          <p:cNvSpPr/>
          <p:nvPr/>
        </p:nvSpPr>
        <p:spPr>
          <a:xfrm>
            <a:off x="8055864" y="1188720"/>
            <a:ext cx="1769364" cy="969264"/>
          </a:xfrm>
          <a:prstGeom prst="roundRect">
            <a:avLst>
              <a:gd name="adj" fmla="val 4717"/>
            </a:avLst>
          </a:prstGeom>
          <a:solidFill>
            <a:srgbClr val="0F6E64"/>
          </a:solidFill>
          <a:ln w="12700">
            <a:solidFill>
              <a:srgbClr val="0F6E64"/>
            </a:solidFill>
            <a:prstDash val="solid"/>
          </a:ln>
        </p:spPr>
      </p:sp>
      <p:sp>
        <p:nvSpPr>
          <p:cNvPr id="17" name="Text 15"/>
          <p:cNvSpPr txBox="1"/>
          <p:nvPr/>
        </p:nvSpPr>
        <p:spPr>
          <a:xfrm>
            <a:off x="8055864" y="1271016"/>
            <a:ext cx="1769364" cy="20116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Classify</a:t>
            </a:r>
            <a:endParaRPr lang="en-US" sz="1100" dirty="0"/>
          </a:p>
        </p:txBody>
      </p:sp>
      <p:sp>
        <p:nvSpPr>
          <p:cNvPr id="18" name="Text 16"/>
          <p:cNvSpPr txBox="1"/>
          <p:nvPr/>
        </p:nvSpPr>
        <p:spPr>
          <a:xfrm>
            <a:off x="8101584" y="1490472"/>
            <a:ext cx="1677924" cy="603504"/>
          </a:xfrm>
          <a:prstGeom prst="rect">
            <a:avLst/>
          </a:prstGeom>
          <a:noFill/>
          <a:ln/>
        </p:spPr>
        <p:txBody>
          <a:bodyPr wrap="square" lIns="0" tIns="0" rIns="0" bIns="0" rtlCol="0" anchor="ctr"/>
          <a:lstStyle/>
          <a:p>
            <a:pPr algn="ctr" indent="0" marL="0">
              <a:lnSpc>
                <a:spcPts val="1050"/>
              </a:lnSpc>
              <a:buNone/>
            </a:pPr>
            <a:r>
              <a:rPr lang="en-US" sz="850" dirty="0">
                <a:solidFill>
                  <a:srgbClr val="D8ECE9"/>
                </a:solidFill>
                <a:latin typeface="Calibri" pitchFamily="34" charset="0"/>
                <a:ea typeface="Calibri" pitchFamily="34" charset="-122"/>
                <a:cs typeface="Calibri" pitchFamily="34" charset="-120"/>
              </a:rPr>
              <a:t>SVM-RBF</a:t>
            </a:r>
            <a:endParaRPr lang="en-US" sz="850" dirty="0"/>
          </a:p>
          <a:p>
            <a:pPr algn="ctr" indent="0" marL="0">
              <a:lnSpc>
                <a:spcPts val="1050"/>
              </a:lnSpc>
              <a:buNone/>
            </a:pPr>
            <a:r>
              <a:rPr lang="en-US" sz="850" dirty="0">
                <a:solidFill>
                  <a:srgbClr val="D8ECE9"/>
                </a:solidFill>
                <a:latin typeface="Calibri" pitchFamily="34" charset="0"/>
                <a:ea typeface="Calibri" pitchFamily="34" charset="-122"/>
                <a:cs typeface="Calibri" pitchFamily="34" charset="-120"/>
              </a:rPr>
              <a:t>scaler inside</a:t>
            </a:r>
            <a:endParaRPr lang="en-US" sz="850" dirty="0"/>
          </a:p>
          <a:p>
            <a:pPr algn="ctr" indent="0" marL="0">
              <a:lnSpc>
                <a:spcPts val="1050"/>
              </a:lnSpc>
              <a:buNone/>
            </a:pPr>
            <a:r>
              <a:rPr lang="en-US" sz="850" dirty="0">
                <a:solidFill>
                  <a:srgbClr val="D8ECE9"/>
                </a:solidFill>
                <a:latin typeface="Calibri" pitchFamily="34" charset="0"/>
                <a:ea typeface="Calibri" pitchFamily="34" charset="-122"/>
                <a:cs typeface="Calibri" pitchFamily="34" charset="-120"/>
              </a:rPr>
              <a:t>the pipeline</a:t>
            </a:r>
            <a:endParaRPr lang="en-US" sz="850" dirty="0"/>
          </a:p>
        </p:txBody>
      </p:sp>
      <p:sp>
        <p:nvSpPr>
          <p:cNvPr id="19" name="Shape 17"/>
          <p:cNvSpPr/>
          <p:nvPr/>
        </p:nvSpPr>
        <p:spPr>
          <a:xfrm>
            <a:off x="9944100" y="1188720"/>
            <a:ext cx="1769364" cy="969264"/>
          </a:xfrm>
          <a:prstGeom prst="roundRect">
            <a:avLst>
              <a:gd name="adj" fmla="val 4717"/>
            </a:avLst>
          </a:prstGeom>
          <a:solidFill>
            <a:srgbClr val="F3F6F7"/>
          </a:solidFill>
          <a:ln w="12700">
            <a:solidFill>
              <a:srgbClr val="DCE0E4"/>
            </a:solidFill>
            <a:prstDash val="solid"/>
          </a:ln>
        </p:spPr>
      </p:sp>
      <p:sp>
        <p:nvSpPr>
          <p:cNvPr id="20" name="Text 18"/>
          <p:cNvSpPr txBox="1"/>
          <p:nvPr/>
        </p:nvSpPr>
        <p:spPr>
          <a:xfrm>
            <a:off x="9944100" y="1271016"/>
            <a:ext cx="1769364" cy="201168"/>
          </a:xfrm>
          <a:prstGeom prst="rect">
            <a:avLst/>
          </a:prstGeom>
          <a:noFill/>
          <a:ln/>
        </p:spPr>
        <p:txBody>
          <a:bodyPr wrap="square" lIns="0" tIns="0" rIns="0" bIns="0" rtlCol="0" anchor="ctr"/>
          <a:lstStyle/>
          <a:p>
            <a:pPr algn="ctr" indent="0" marL="0">
              <a:buNone/>
            </a:pPr>
            <a:r>
              <a:rPr lang="en-US" sz="1100" b="1" dirty="0">
                <a:solidFill>
                  <a:srgbClr val="1C232B"/>
                </a:solidFill>
                <a:latin typeface="Calibri" pitchFamily="34" charset="0"/>
                <a:ea typeface="Calibri" pitchFamily="34" charset="-122"/>
                <a:cs typeface="Calibri" pitchFamily="34" charset="-120"/>
              </a:rPr>
              <a:t>Evaluate</a:t>
            </a:r>
            <a:endParaRPr lang="en-US" sz="1100" dirty="0"/>
          </a:p>
        </p:txBody>
      </p:sp>
      <p:sp>
        <p:nvSpPr>
          <p:cNvPr id="21" name="Text 19"/>
          <p:cNvSpPr txBox="1"/>
          <p:nvPr/>
        </p:nvSpPr>
        <p:spPr>
          <a:xfrm>
            <a:off x="9989820" y="1490472"/>
            <a:ext cx="1677924" cy="603504"/>
          </a:xfrm>
          <a:prstGeom prst="rect">
            <a:avLst/>
          </a:prstGeom>
          <a:noFill/>
          <a:ln/>
        </p:spPr>
        <p:txBody>
          <a:bodyPr wrap="square" lIns="0" tIns="0" rIns="0" bIns="0" rtlCol="0" anchor="ctr"/>
          <a:lstStyle/>
          <a:p>
            <a:pPr algn="ctr" indent="0" marL="0">
              <a:lnSpc>
                <a:spcPts val="1050"/>
              </a:lnSpc>
              <a:buNone/>
            </a:pPr>
            <a:r>
              <a:rPr lang="en-US" sz="850" dirty="0">
                <a:solidFill>
                  <a:srgbClr val="58626D"/>
                </a:solidFill>
                <a:latin typeface="Calibri" pitchFamily="34" charset="0"/>
                <a:ea typeface="Calibri" pitchFamily="34" charset="-122"/>
                <a:cs typeface="Calibri" pitchFamily="34" charset="-120"/>
              </a:rPr>
              <a:t>5 folds, speakers</a:t>
            </a:r>
            <a:endParaRPr lang="en-US" sz="850" dirty="0"/>
          </a:p>
          <a:p>
            <a:pPr algn="ctr" indent="0" marL="0">
              <a:lnSpc>
                <a:spcPts val="1050"/>
              </a:lnSpc>
              <a:buNone/>
            </a:pPr>
            <a:r>
              <a:rPr lang="en-US" sz="850" dirty="0">
                <a:solidFill>
                  <a:srgbClr val="58626D"/>
                </a:solidFill>
                <a:latin typeface="Calibri" pitchFamily="34" charset="0"/>
                <a:ea typeface="Calibri" pitchFamily="34" charset="-122"/>
                <a:cs typeface="Calibri" pitchFamily="34" charset="-120"/>
              </a:rPr>
              <a:t>held out, pooled</a:t>
            </a:r>
            <a:endParaRPr lang="en-US" sz="850" dirty="0"/>
          </a:p>
        </p:txBody>
      </p:sp>
      <p:sp>
        <p:nvSpPr>
          <p:cNvPr id="22" name="Text 20"/>
          <p:cNvSpPr txBox="1"/>
          <p:nvPr/>
        </p:nvSpPr>
        <p:spPr>
          <a:xfrm>
            <a:off x="502920" y="2212848"/>
            <a:ext cx="11155680" cy="219456"/>
          </a:xfrm>
          <a:prstGeom prst="rect">
            <a:avLst/>
          </a:prstGeom>
          <a:noFill/>
          <a:ln/>
        </p:spPr>
        <p:txBody>
          <a:bodyPr wrap="square" lIns="0" tIns="0" rIns="0" bIns="0" rtlCol="0" anchor="ctr"/>
          <a:lstStyle/>
          <a:p>
            <a:pPr indent="0" marL="0">
              <a:buNone/>
            </a:pPr>
            <a:r>
              <a:rPr lang="en-US" sz="1000" dirty="0">
                <a:solidFill>
                  <a:srgbClr val="58626D"/>
                </a:solidFill>
                <a:latin typeface="Calibri" pitchFamily="34" charset="0"/>
                <a:ea typeface="Calibri" pitchFamily="34" charset="-122"/>
                <a:cs typeface="Calibri" pitchFamily="34" charset="-120"/>
              </a:rPr>
              <a:t>Built end to end and validated. Every stage is a tested module, and the folds and scoring function were frozen before any model was fitted.</a:t>
            </a:r>
            <a:endParaRPr lang="en-US" sz="1000" dirty="0"/>
          </a:p>
        </p:txBody>
      </p:sp>
      <p:sp>
        <p:nvSpPr>
          <p:cNvPr id="23" name="Shape 21"/>
          <p:cNvSpPr/>
          <p:nvPr/>
        </p:nvSpPr>
        <p:spPr>
          <a:xfrm>
            <a:off x="502920" y="2560320"/>
            <a:ext cx="11183112" cy="0"/>
          </a:xfrm>
          <a:prstGeom prst="line">
            <a:avLst/>
          </a:prstGeom>
          <a:noFill/>
          <a:ln w="12700">
            <a:solidFill>
              <a:srgbClr val="DCE0E4"/>
            </a:solidFill>
            <a:prstDash val="solid"/>
          </a:ln>
        </p:spPr>
      </p:sp>
      <p:sp>
        <p:nvSpPr>
          <p:cNvPr id="24" name="Text 22"/>
          <p:cNvSpPr txBox="1"/>
          <p:nvPr/>
        </p:nvSpPr>
        <p:spPr>
          <a:xfrm>
            <a:off x="502920" y="2688336"/>
            <a:ext cx="5120640" cy="237744"/>
          </a:xfrm>
          <a:prstGeom prst="rect">
            <a:avLst/>
          </a:prstGeom>
          <a:noFill/>
          <a:ln/>
        </p:spPr>
        <p:txBody>
          <a:bodyPr wrap="square" lIns="0" tIns="0" rIns="0" bIns="0" rtlCol="0" anchor="ctr"/>
          <a:lstStyle/>
          <a:p>
            <a:pPr indent="0" marL="0">
              <a:buNone/>
            </a:pPr>
            <a:r>
              <a:rPr lang="en-US" sz="1300" b="1" dirty="0">
                <a:solidFill>
                  <a:srgbClr val="1C232B"/>
                </a:solidFill>
                <a:latin typeface="Calibri" pitchFamily="34" charset="0"/>
                <a:ea typeface="Calibri" pitchFamily="34" charset="-122"/>
                <a:cs typeface="Calibri" pitchFamily="34" charset="-120"/>
              </a:rPr>
              <a:t>Why SVM-RBF is the baseline</a:t>
            </a:r>
            <a:endParaRPr lang="en-US" sz="1300" dirty="0"/>
          </a:p>
        </p:txBody>
      </p:sp>
      <p:sp>
        <p:nvSpPr>
          <p:cNvPr id="25" name="Text 23"/>
          <p:cNvSpPr txBox="1"/>
          <p:nvPr/>
        </p:nvSpPr>
        <p:spPr>
          <a:xfrm>
            <a:off x="502920" y="2962656"/>
            <a:ext cx="5074920" cy="896112"/>
          </a:xfrm>
          <a:prstGeom prst="rect">
            <a:avLst/>
          </a:prstGeom>
          <a:noFill/>
          <a:ln/>
        </p:spPr>
        <p:txBody>
          <a:bodyPr wrap="square" lIns="0" tIns="0" rIns="0" bIns="0" rtlCol="0" anchor="ctr"/>
          <a:lstStyle/>
          <a:p>
            <a:pPr indent="0" marL="0">
              <a:lnSpc>
                <a:spcPts val="1350"/>
              </a:lnSpc>
              <a:buNone/>
            </a:pPr>
            <a:r>
              <a:rPr lang="en-US" sz="1050" dirty="0">
                <a:solidFill>
                  <a:srgbClr val="58626D"/>
                </a:solidFill>
                <a:latin typeface="Calibri" pitchFamily="34" charset="0"/>
                <a:ea typeface="Calibri" pitchFamily="34" charset="-122"/>
                <a:cs typeface="Calibri" pitchFamily="34" charset="-120"/>
              </a:rPr>
              <a:t>162 dense, standardised features over 1,140 training clips is a high-dimension, low-sample problem. A kernel method draws one smooth boundary through the whole space, while tree ensembles split one feature at a time and need far more examples to place those splits well. It also trains in under a second, so it costs nothing as a reference point.</a:t>
            </a:r>
            <a:endParaRPr lang="en-US" sz="1050" dirty="0"/>
          </a:p>
        </p:txBody>
      </p:sp>
      <p:sp>
        <p:nvSpPr>
          <p:cNvPr id="26" name="Text 24"/>
          <p:cNvSpPr txBox="1"/>
          <p:nvPr/>
        </p:nvSpPr>
        <p:spPr>
          <a:xfrm>
            <a:off x="502920" y="3968496"/>
            <a:ext cx="5120640" cy="237744"/>
          </a:xfrm>
          <a:prstGeom prst="rect">
            <a:avLst/>
          </a:prstGeom>
          <a:noFill/>
          <a:ln/>
        </p:spPr>
        <p:txBody>
          <a:bodyPr wrap="square" lIns="0" tIns="0" rIns="0" bIns="0" rtlCol="0" anchor="ctr"/>
          <a:lstStyle/>
          <a:p>
            <a:pPr indent="0" marL="0">
              <a:buNone/>
            </a:pPr>
            <a:r>
              <a:rPr lang="en-US" sz="1300" b="1" dirty="0">
                <a:solidFill>
                  <a:srgbClr val="1C232B"/>
                </a:solidFill>
                <a:latin typeface="Calibri" pitchFamily="34" charset="0"/>
                <a:ea typeface="Calibri" pitchFamily="34" charset="-122"/>
                <a:cs typeface="Calibri" pitchFamily="34" charset="-120"/>
              </a:rPr>
              <a:t>Feature engineering, treated as an experiment</a:t>
            </a:r>
            <a:endParaRPr lang="en-US" sz="1300" dirty="0"/>
          </a:p>
        </p:txBody>
      </p:sp>
      <p:sp>
        <p:nvSpPr>
          <p:cNvPr id="27" name="Text 25"/>
          <p:cNvSpPr txBox="1"/>
          <p:nvPr/>
        </p:nvSpPr>
        <p:spPr>
          <a:xfrm>
            <a:off x="502920" y="4242816"/>
            <a:ext cx="5074920" cy="402336"/>
          </a:xfrm>
          <a:prstGeom prst="rect">
            <a:avLst/>
          </a:prstGeom>
          <a:noFill/>
          <a:ln/>
        </p:spPr>
        <p:txBody>
          <a:bodyPr wrap="square" lIns="0" tIns="0" rIns="0" bIns="0" rtlCol="0" anchor="ctr"/>
          <a:lstStyle/>
          <a:p>
            <a:pPr indent="0" marL="0">
              <a:lnSpc>
                <a:spcPts val="1350"/>
              </a:lnSpc>
              <a:buNone/>
            </a:pPr>
            <a:r>
              <a:rPr lang="en-US" sz="1050" dirty="0">
                <a:solidFill>
                  <a:srgbClr val="58626D"/>
                </a:solidFill>
                <a:latin typeface="Calibri" pitchFamily="34" charset="0"/>
                <a:ea typeface="Calibri" pitchFamily="34" charset="-122"/>
                <a:cs typeface="Calibri" pitchFamily="34" charset="-120"/>
              </a:rPr>
              <a:t>19 configurations, one axis changed at a time with the model held fixed, so every difference is attributable to a single decision.</a:t>
            </a:r>
            <a:endParaRPr lang="en-US" sz="1050" dirty="0"/>
          </a:p>
        </p:txBody>
      </p:sp>
      <p:sp>
        <p:nvSpPr>
          <p:cNvPr id="28" name="Text 26"/>
          <p:cNvSpPr txBox="1"/>
          <p:nvPr/>
        </p:nvSpPr>
        <p:spPr>
          <a:xfrm>
            <a:off x="502920" y="4718304"/>
            <a:ext cx="3749040" cy="201168"/>
          </a:xfrm>
          <a:prstGeom prst="rect">
            <a:avLst/>
          </a:prstGeom>
          <a:noFill/>
          <a:ln/>
        </p:spPr>
        <p:txBody>
          <a:bodyPr wrap="square" lIns="0" tIns="0" rIns="0" bIns="0" rtlCol="0" anchor="ctr"/>
          <a:lstStyle/>
          <a:p>
            <a:pPr indent="0" marL="0">
              <a:buNone/>
            </a:pPr>
            <a:r>
              <a:rPr lang="en-US" sz="1000" dirty="0">
                <a:solidFill>
                  <a:srgbClr val="1C232B"/>
                </a:solidFill>
                <a:latin typeface="Calibri" pitchFamily="34" charset="0"/>
                <a:ea typeface="Calibri" pitchFamily="34" charset="-122"/>
                <a:cs typeface="Calibri" pitchFamily="34" charset="-120"/>
              </a:rPr>
              <a:t>Per-speaker normalisation</a:t>
            </a:r>
            <a:endParaRPr lang="en-US" sz="1000" dirty="0"/>
          </a:p>
        </p:txBody>
      </p:sp>
      <p:sp>
        <p:nvSpPr>
          <p:cNvPr id="29" name="Text 27"/>
          <p:cNvSpPr txBox="1"/>
          <p:nvPr/>
        </p:nvSpPr>
        <p:spPr>
          <a:xfrm>
            <a:off x="4297680" y="4718304"/>
            <a:ext cx="1280160" cy="201168"/>
          </a:xfrm>
          <a:prstGeom prst="rect">
            <a:avLst/>
          </a:prstGeom>
          <a:noFill/>
          <a:ln/>
        </p:spPr>
        <p:txBody>
          <a:bodyPr wrap="square" lIns="0" tIns="0" rIns="0" bIns="0" rtlCol="0" anchor="ctr"/>
          <a:lstStyle/>
          <a:p>
            <a:pPr algn="r" indent="0" marL="0">
              <a:buNone/>
            </a:pPr>
            <a:r>
              <a:rPr lang="en-US" sz="1000" b="1" dirty="0">
                <a:solidFill>
                  <a:srgbClr val="0F6E64"/>
                </a:solidFill>
                <a:latin typeface="Calibri" pitchFamily="34" charset="0"/>
                <a:ea typeface="Calibri" pitchFamily="34" charset="-122"/>
                <a:cs typeface="Calibri" pitchFamily="34" charset="-120"/>
              </a:rPr>
              <a:t>+6.5 pp</a:t>
            </a:r>
            <a:endParaRPr lang="en-US" sz="1000" dirty="0"/>
          </a:p>
        </p:txBody>
      </p:sp>
      <p:sp>
        <p:nvSpPr>
          <p:cNvPr id="30" name="Text 28"/>
          <p:cNvSpPr txBox="1"/>
          <p:nvPr/>
        </p:nvSpPr>
        <p:spPr>
          <a:xfrm>
            <a:off x="502920" y="4937760"/>
            <a:ext cx="3749040" cy="201168"/>
          </a:xfrm>
          <a:prstGeom prst="rect">
            <a:avLst/>
          </a:prstGeom>
          <a:noFill/>
          <a:ln/>
        </p:spPr>
        <p:txBody>
          <a:bodyPr wrap="square" lIns="0" tIns="0" rIns="0" bIns="0" rtlCol="0" anchor="ctr"/>
          <a:lstStyle/>
          <a:p>
            <a:pPr indent="0" marL="0">
              <a:buNone/>
            </a:pPr>
            <a:r>
              <a:rPr lang="en-US" sz="1000" dirty="0">
                <a:solidFill>
                  <a:srgbClr val="1C232B"/>
                </a:solidFill>
                <a:latin typeface="Calibri" pitchFamily="34" charset="0"/>
                <a:ea typeface="Calibri" pitchFamily="34" charset="-122"/>
                <a:cs typeface="Calibri" pitchFamily="34" charset="-120"/>
              </a:rPr>
              <a:t>Fewer MFCCs, 20 rather than 40</a:t>
            </a:r>
            <a:endParaRPr lang="en-US" sz="1000" dirty="0"/>
          </a:p>
        </p:txBody>
      </p:sp>
      <p:sp>
        <p:nvSpPr>
          <p:cNvPr id="31" name="Text 29"/>
          <p:cNvSpPr txBox="1"/>
          <p:nvPr/>
        </p:nvSpPr>
        <p:spPr>
          <a:xfrm>
            <a:off x="4297680" y="4937760"/>
            <a:ext cx="1280160" cy="201168"/>
          </a:xfrm>
          <a:prstGeom prst="rect">
            <a:avLst/>
          </a:prstGeom>
          <a:noFill/>
          <a:ln/>
        </p:spPr>
        <p:txBody>
          <a:bodyPr wrap="square" lIns="0" tIns="0" rIns="0" bIns="0" rtlCol="0" anchor="ctr"/>
          <a:lstStyle/>
          <a:p>
            <a:pPr algn="r" indent="0" marL="0">
              <a:buNone/>
            </a:pPr>
            <a:r>
              <a:rPr lang="en-US" sz="1000" b="1" dirty="0">
                <a:solidFill>
                  <a:srgbClr val="0F6E64"/>
                </a:solidFill>
                <a:latin typeface="Calibri" pitchFamily="34" charset="0"/>
                <a:ea typeface="Calibri" pitchFamily="34" charset="-122"/>
                <a:cs typeface="Calibri" pitchFamily="34" charset="-120"/>
              </a:rPr>
              <a:t>+3.7 pp</a:t>
            </a:r>
            <a:endParaRPr lang="en-US" sz="1000" dirty="0"/>
          </a:p>
        </p:txBody>
      </p:sp>
      <p:sp>
        <p:nvSpPr>
          <p:cNvPr id="32" name="Text 30"/>
          <p:cNvSpPr txBox="1"/>
          <p:nvPr/>
        </p:nvSpPr>
        <p:spPr>
          <a:xfrm>
            <a:off x="502920" y="5157216"/>
            <a:ext cx="3749040" cy="201168"/>
          </a:xfrm>
          <a:prstGeom prst="rect">
            <a:avLst/>
          </a:prstGeom>
          <a:noFill/>
          <a:ln/>
        </p:spPr>
        <p:txBody>
          <a:bodyPr wrap="square" lIns="0" tIns="0" rIns="0" bIns="0" rtlCol="0" anchor="ctr"/>
          <a:lstStyle/>
          <a:p>
            <a:pPr indent="0" marL="0">
              <a:buNone/>
            </a:pPr>
            <a:r>
              <a:rPr lang="en-US" sz="1000" dirty="0">
                <a:solidFill>
                  <a:srgbClr val="1C232B"/>
                </a:solidFill>
                <a:latin typeface="Calibri" pitchFamily="34" charset="0"/>
                <a:ea typeface="Calibri" pitchFamily="34" charset="-122"/>
                <a:cs typeface="Calibri" pitchFamily="34" charset="-120"/>
              </a:rPr>
              <a:t>Added spectral descriptors</a:t>
            </a:r>
            <a:endParaRPr lang="en-US" sz="1000" dirty="0"/>
          </a:p>
        </p:txBody>
      </p:sp>
      <p:sp>
        <p:nvSpPr>
          <p:cNvPr id="33" name="Text 31"/>
          <p:cNvSpPr txBox="1"/>
          <p:nvPr/>
        </p:nvSpPr>
        <p:spPr>
          <a:xfrm>
            <a:off x="4297680" y="5157216"/>
            <a:ext cx="1280160" cy="201168"/>
          </a:xfrm>
          <a:prstGeom prst="rect">
            <a:avLst/>
          </a:prstGeom>
          <a:noFill/>
          <a:ln/>
        </p:spPr>
        <p:txBody>
          <a:bodyPr wrap="square" lIns="0" tIns="0" rIns="0" bIns="0" rtlCol="0" anchor="ctr"/>
          <a:lstStyle/>
          <a:p>
            <a:pPr algn="r" indent="0" marL="0">
              <a:buNone/>
            </a:pPr>
            <a:r>
              <a:rPr lang="en-US" sz="1000" b="1" dirty="0">
                <a:solidFill>
                  <a:srgbClr val="0F6E64"/>
                </a:solidFill>
                <a:latin typeface="Calibri" pitchFamily="34" charset="0"/>
                <a:ea typeface="Calibri" pitchFamily="34" charset="-122"/>
                <a:cs typeface="Calibri" pitchFamily="34" charset="-120"/>
              </a:rPr>
              <a:t>+2.6 pp</a:t>
            </a:r>
            <a:endParaRPr lang="en-US" sz="1000" dirty="0"/>
          </a:p>
        </p:txBody>
      </p:sp>
      <p:sp>
        <p:nvSpPr>
          <p:cNvPr id="34" name="Text 32"/>
          <p:cNvSpPr txBox="1"/>
          <p:nvPr/>
        </p:nvSpPr>
        <p:spPr>
          <a:xfrm>
            <a:off x="502920" y="5376672"/>
            <a:ext cx="3749040" cy="201168"/>
          </a:xfrm>
          <a:prstGeom prst="rect">
            <a:avLst/>
          </a:prstGeom>
          <a:noFill/>
          <a:ln/>
        </p:spPr>
        <p:txBody>
          <a:bodyPr wrap="square" lIns="0" tIns="0" rIns="0" bIns="0" rtlCol="0" anchor="ctr"/>
          <a:lstStyle/>
          <a:p>
            <a:pPr indent="0" marL="0">
              <a:buNone/>
            </a:pPr>
            <a:r>
              <a:rPr lang="en-US" sz="1000" dirty="0">
                <a:solidFill>
                  <a:srgbClr val="1C232B"/>
                </a:solidFill>
                <a:latin typeface="Calibri" pitchFamily="34" charset="0"/>
                <a:ea typeface="Calibri" pitchFamily="34" charset="-122"/>
                <a:cs typeface="Calibri" pitchFamily="34" charset="-120"/>
              </a:rPr>
              <a:t>Silence trimming, if removed</a:t>
            </a:r>
            <a:endParaRPr lang="en-US" sz="1000" dirty="0"/>
          </a:p>
        </p:txBody>
      </p:sp>
      <p:sp>
        <p:nvSpPr>
          <p:cNvPr id="35" name="Text 33"/>
          <p:cNvSpPr txBox="1"/>
          <p:nvPr/>
        </p:nvSpPr>
        <p:spPr>
          <a:xfrm>
            <a:off x="4297680" y="5376672"/>
            <a:ext cx="1280160" cy="201168"/>
          </a:xfrm>
          <a:prstGeom prst="rect">
            <a:avLst/>
          </a:prstGeom>
          <a:noFill/>
          <a:ln/>
        </p:spPr>
        <p:txBody>
          <a:bodyPr wrap="square" lIns="0" tIns="0" rIns="0" bIns="0" rtlCol="0" anchor="ctr"/>
          <a:lstStyle/>
          <a:p>
            <a:pPr algn="r" indent="0" marL="0">
              <a:buNone/>
            </a:pPr>
            <a:r>
              <a:rPr lang="en-US" sz="1000" b="1" dirty="0">
                <a:solidFill>
                  <a:srgbClr val="B4531B"/>
                </a:solidFill>
                <a:latin typeface="Calibri" pitchFamily="34" charset="0"/>
                <a:ea typeface="Calibri" pitchFamily="34" charset="-122"/>
                <a:cs typeface="Calibri" pitchFamily="34" charset="-120"/>
              </a:rPr>
              <a:t>-7.4 pp</a:t>
            </a:r>
            <a:endParaRPr lang="en-US" sz="1000" dirty="0"/>
          </a:p>
        </p:txBody>
      </p:sp>
      <p:sp>
        <p:nvSpPr>
          <p:cNvPr id="36" name="Text 34"/>
          <p:cNvSpPr txBox="1"/>
          <p:nvPr/>
        </p:nvSpPr>
        <p:spPr>
          <a:xfrm>
            <a:off x="502920" y="5632704"/>
            <a:ext cx="5074920" cy="201168"/>
          </a:xfrm>
          <a:prstGeom prst="rect">
            <a:avLst/>
          </a:prstGeom>
          <a:noFill/>
          <a:ln/>
        </p:spPr>
        <p:txBody>
          <a:bodyPr wrap="square" lIns="0" tIns="0" rIns="0" bIns="0" rtlCol="0" anchor="ctr"/>
          <a:lstStyle/>
          <a:p>
            <a:pPr indent="0" marL="0">
              <a:buNone/>
            </a:pPr>
            <a:r>
              <a:rPr lang="en-US" sz="900" i="1" dirty="0">
                <a:solidFill>
                  <a:srgbClr val="949DA6"/>
                </a:solidFill>
                <a:latin typeface="Calibri" pitchFamily="34" charset="0"/>
                <a:ea typeface="Calibri" pitchFamily="34" charset="-122"/>
                <a:cs typeface="Calibri" pitchFamily="34" charset="-120"/>
              </a:rPr>
              <a:t>Change in macro-F1 against the baseline configuration.</a:t>
            </a:r>
            <a:endParaRPr lang="en-US" sz="900" dirty="0"/>
          </a:p>
        </p:txBody>
      </p:sp>
      <p:sp>
        <p:nvSpPr>
          <p:cNvPr id="37" name="Shape 35"/>
          <p:cNvSpPr/>
          <p:nvPr/>
        </p:nvSpPr>
        <p:spPr>
          <a:xfrm>
            <a:off x="5870448" y="2688336"/>
            <a:ext cx="0" cy="3145536"/>
          </a:xfrm>
          <a:prstGeom prst="line">
            <a:avLst/>
          </a:prstGeom>
          <a:noFill/>
          <a:ln w="12700">
            <a:solidFill>
              <a:srgbClr val="DCE0E4"/>
            </a:solidFill>
            <a:prstDash val="solid"/>
          </a:ln>
        </p:spPr>
      </p:sp>
      <p:sp>
        <p:nvSpPr>
          <p:cNvPr id="38" name="Text 36"/>
          <p:cNvSpPr txBox="1"/>
          <p:nvPr/>
        </p:nvSpPr>
        <p:spPr>
          <a:xfrm>
            <a:off x="6172200" y="2688336"/>
            <a:ext cx="5486400" cy="237744"/>
          </a:xfrm>
          <a:prstGeom prst="rect">
            <a:avLst/>
          </a:prstGeom>
          <a:noFill/>
          <a:ln/>
        </p:spPr>
        <p:txBody>
          <a:bodyPr wrap="square" lIns="0" tIns="0" rIns="0" bIns="0" rtlCol="0" anchor="ctr"/>
          <a:lstStyle/>
          <a:p>
            <a:pPr indent="0" marL="0">
              <a:buNone/>
            </a:pPr>
            <a:r>
              <a:rPr lang="en-US" sz="1300" b="1" dirty="0">
                <a:solidFill>
                  <a:srgbClr val="1C232B"/>
                </a:solidFill>
                <a:latin typeface="Calibri" pitchFamily="34" charset="0"/>
                <a:ea typeface="Calibri" pitchFamily="34" charset="-122"/>
                <a:cs typeface="Calibri" pitchFamily="34" charset="-120"/>
              </a:rPr>
              <a:t>What we will try next, and why</a:t>
            </a:r>
            <a:endParaRPr lang="en-US" sz="1300" dirty="0"/>
          </a:p>
        </p:txBody>
      </p:sp>
      <p:sp>
        <p:nvSpPr>
          <p:cNvPr id="39" name="Text 37"/>
          <p:cNvSpPr txBox="1"/>
          <p:nvPr/>
        </p:nvSpPr>
        <p:spPr>
          <a:xfrm>
            <a:off x="6172200" y="2962656"/>
            <a:ext cx="5513832" cy="201168"/>
          </a:xfrm>
          <a:prstGeom prst="rect">
            <a:avLst/>
          </a:prstGeom>
          <a:noFill/>
          <a:ln/>
        </p:spPr>
        <p:txBody>
          <a:bodyPr wrap="square" lIns="0" tIns="0" rIns="0" bIns="0" rtlCol="0" anchor="ctr"/>
          <a:lstStyle/>
          <a:p>
            <a:pPr indent="0" marL="0">
              <a:buNone/>
            </a:pPr>
            <a:r>
              <a:rPr lang="en-US" sz="1000" dirty="0">
                <a:solidFill>
                  <a:srgbClr val="58626D"/>
                </a:solidFill>
                <a:latin typeface="Calibri" pitchFamily="34" charset="0"/>
                <a:ea typeface="Calibri" pitchFamily="34" charset="-122"/>
                <a:cs typeface="Calibri" pitchFamily="34" charset="-120"/>
              </a:rPr>
              <a:t>Each targets a specific weakness this phase measured.</a:t>
            </a:r>
            <a:endParaRPr lang="en-US" sz="1000" dirty="0"/>
          </a:p>
        </p:txBody>
      </p:sp>
      <p:sp>
        <p:nvSpPr>
          <p:cNvPr id="40" name="Text 38"/>
          <p:cNvSpPr txBox="1"/>
          <p:nvPr/>
        </p:nvSpPr>
        <p:spPr>
          <a:xfrm>
            <a:off x="6172200" y="3282696"/>
            <a:ext cx="219456" cy="201168"/>
          </a:xfrm>
          <a:prstGeom prst="rect">
            <a:avLst/>
          </a:prstGeom>
          <a:noFill/>
          <a:ln/>
        </p:spPr>
        <p:txBody>
          <a:bodyPr wrap="square" lIns="0" tIns="0" rIns="0" bIns="0" rtlCol="0" anchor="ctr"/>
          <a:lstStyle/>
          <a:p>
            <a:pPr indent="0" marL="0">
              <a:buNone/>
            </a:pPr>
            <a:r>
              <a:rPr lang="en-US" sz="1050" b="1" dirty="0">
                <a:solidFill>
                  <a:srgbClr val="0F6E64"/>
                </a:solidFill>
                <a:latin typeface="Calibri" pitchFamily="34" charset="0"/>
                <a:ea typeface="Calibri" pitchFamily="34" charset="-122"/>
                <a:cs typeface="Calibri" pitchFamily="34" charset="-120"/>
              </a:rPr>
              <a:t>1</a:t>
            </a:r>
            <a:endParaRPr lang="en-US" sz="1050" dirty="0"/>
          </a:p>
        </p:txBody>
      </p:sp>
      <p:sp>
        <p:nvSpPr>
          <p:cNvPr id="41" name="Text 39"/>
          <p:cNvSpPr txBox="1"/>
          <p:nvPr/>
        </p:nvSpPr>
        <p:spPr>
          <a:xfrm>
            <a:off x="6419088" y="3273552"/>
            <a:ext cx="5266944" cy="201168"/>
          </a:xfrm>
          <a:prstGeom prst="rect">
            <a:avLst/>
          </a:prstGeom>
          <a:noFill/>
          <a:ln/>
        </p:spPr>
        <p:txBody>
          <a:bodyPr wrap="square" lIns="0" tIns="0" rIns="0" bIns="0" rtlCol="0" anchor="ctr"/>
          <a:lstStyle/>
          <a:p>
            <a:pPr indent="0" marL="0">
              <a:buNone/>
            </a:pPr>
            <a:r>
              <a:rPr lang="en-US" sz="1100" b="1" dirty="0">
                <a:solidFill>
                  <a:srgbClr val="1C232B"/>
                </a:solidFill>
                <a:latin typeface="Calibri" pitchFamily="34" charset="0"/>
                <a:ea typeface="Calibri" pitchFamily="34" charset="-122"/>
                <a:cs typeface="Calibri" pitchFamily="34" charset="-120"/>
              </a:rPr>
              <a:t>Sequence models over frame order</a:t>
            </a:r>
            <a:endParaRPr lang="en-US" sz="1100" dirty="0"/>
          </a:p>
        </p:txBody>
      </p:sp>
      <p:sp>
        <p:nvSpPr>
          <p:cNvPr id="42" name="Text 40"/>
          <p:cNvSpPr txBox="1"/>
          <p:nvPr/>
        </p:nvSpPr>
        <p:spPr>
          <a:xfrm>
            <a:off x="6419088" y="3465576"/>
            <a:ext cx="5266944" cy="402336"/>
          </a:xfrm>
          <a:prstGeom prst="rect">
            <a:avLst/>
          </a:prstGeom>
          <a:noFill/>
          <a:ln/>
        </p:spPr>
        <p:txBody>
          <a:bodyPr wrap="square" lIns="0" tIns="0" rIns="0" bIns="0" rtlCol="0" anchor="ctr"/>
          <a:lstStyle/>
          <a:p>
            <a:pPr indent="0" marL="0">
              <a:lnSpc>
                <a:spcPts val="1150"/>
              </a:lnSpc>
              <a:buNone/>
            </a:pPr>
            <a:r>
              <a:rPr lang="en-US" sz="950" dirty="0">
                <a:solidFill>
                  <a:srgbClr val="58626D"/>
                </a:solidFill>
                <a:latin typeface="Calibri" pitchFamily="34" charset="0"/>
                <a:ea typeface="Calibri" pitchFamily="34" charset="-122"/>
                <a:cs typeface="Calibri" pitchFamily="34" charset="-120"/>
              </a:rPr>
              <a:t>Averaging across the clip discards time entirely, so a rising and a falling pitch contour look identical. A 1-D CNN or CNN-LSTM reads frames in sequence.</a:t>
            </a:r>
            <a:endParaRPr lang="en-US" sz="950" dirty="0"/>
          </a:p>
        </p:txBody>
      </p:sp>
      <p:sp>
        <p:nvSpPr>
          <p:cNvPr id="43" name="Text 41"/>
          <p:cNvSpPr txBox="1"/>
          <p:nvPr/>
        </p:nvSpPr>
        <p:spPr>
          <a:xfrm>
            <a:off x="6172200" y="3931920"/>
            <a:ext cx="219456" cy="201168"/>
          </a:xfrm>
          <a:prstGeom prst="rect">
            <a:avLst/>
          </a:prstGeom>
          <a:noFill/>
          <a:ln/>
        </p:spPr>
        <p:txBody>
          <a:bodyPr wrap="square" lIns="0" tIns="0" rIns="0" bIns="0" rtlCol="0" anchor="ctr"/>
          <a:lstStyle/>
          <a:p>
            <a:pPr indent="0" marL="0">
              <a:buNone/>
            </a:pPr>
            <a:r>
              <a:rPr lang="en-US" sz="1050" b="1" dirty="0">
                <a:solidFill>
                  <a:srgbClr val="0F6E64"/>
                </a:solidFill>
                <a:latin typeface="Calibri" pitchFamily="34" charset="0"/>
                <a:ea typeface="Calibri" pitchFamily="34" charset="-122"/>
                <a:cs typeface="Calibri" pitchFamily="34" charset="-120"/>
              </a:rPr>
              <a:t>2</a:t>
            </a:r>
            <a:endParaRPr lang="en-US" sz="1050" dirty="0"/>
          </a:p>
        </p:txBody>
      </p:sp>
      <p:sp>
        <p:nvSpPr>
          <p:cNvPr id="44" name="Text 42"/>
          <p:cNvSpPr txBox="1"/>
          <p:nvPr/>
        </p:nvSpPr>
        <p:spPr>
          <a:xfrm>
            <a:off x="6419088" y="3922776"/>
            <a:ext cx="5266944" cy="201168"/>
          </a:xfrm>
          <a:prstGeom prst="rect">
            <a:avLst/>
          </a:prstGeom>
          <a:noFill/>
          <a:ln/>
        </p:spPr>
        <p:txBody>
          <a:bodyPr wrap="square" lIns="0" tIns="0" rIns="0" bIns="0" rtlCol="0" anchor="ctr"/>
          <a:lstStyle/>
          <a:p>
            <a:pPr indent="0" marL="0">
              <a:buNone/>
            </a:pPr>
            <a:r>
              <a:rPr lang="en-US" sz="1100" b="1" dirty="0">
                <a:solidFill>
                  <a:srgbClr val="1C232B"/>
                </a:solidFill>
                <a:latin typeface="Calibri" pitchFamily="34" charset="0"/>
                <a:ea typeface="Calibri" pitchFamily="34" charset="-122"/>
                <a:cs typeface="Calibri" pitchFamily="34" charset="-120"/>
              </a:rPr>
              <a:t>Speaker-adversarial training</a:t>
            </a:r>
            <a:endParaRPr lang="en-US" sz="1100" dirty="0"/>
          </a:p>
        </p:txBody>
      </p:sp>
      <p:sp>
        <p:nvSpPr>
          <p:cNvPr id="45" name="Text 43"/>
          <p:cNvSpPr txBox="1"/>
          <p:nvPr/>
        </p:nvSpPr>
        <p:spPr>
          <a:xfrm>
            <a:off x="6419088" y="4114800"/>
            <a:ext cx="5266944" cy="402336"/>
          </a:xfrm>
          <a:prstGeom prst="rect">
            <a:avLst/>
          </a:prstGeom>
          <a:noFill/>
          <a:ln/>
        </p:spPr>
        <p:txBody>
          <a:bodyPr wrap="square" lIns="0" tIns="0" rIns="0" bIns="0" rtlCol="0" anchor="ctr"/>
          <a:lstStyle/>
          <a:p>
            <a:pPr indent="0" marL="0">
              <a:lnSpc>
                <a:spcPts val="1150"/>
              </a:lnSpc>
              <a:buNone/>
            </a:pPr>
            <a:r>
              <a:rPr lang="en-US" sz="950" dirty="0">
                <a:solidFill>
                  <a:srgbClr val="58626D"/>
                </a:solidFill>
                <a:latin typeface="Calibri" pitchFamily="34" charset="0"/>
                <a:ea typeface="Calibri" pitchFamily="34" charset="-122"/>
                <a:cs typeface="Calibri" pitchFamily="34" charset="-120"/>
              </a:rPr>
              <a:t>Instead of removing speaker identity by hand, train the encoder so a speaker classifier cannot succeed on its output. Attacks the leakage cause directly.</a:t>
            </a:r>
            <a:endParaRPr lang="en-US" sz="950" dirty="0"/>
          </a:p>
        </p:txBody>
      </p:sp>
      <p:sp>
        <p:nvSpPr>
          <p:cNvPr id="46" name="Text 44"/>
          <p:cNvSpPr txBox="1"/>
          <p:nvPr/>
        </p:nvSpPr>
        <p:spPr>
          <a:xfrm>
            <a:off x="6172200" y="4581144"/>
            <a:ext cx="219456" cy="201168"/>
          </a:xfrm>
          <a:prstGeom prst="rect">
            <a:avLst/>
          </a:prstGeom>
          <a:noFill/>
          <a:ln/>
        </p:spPr>
        <p:txBody>
          <a:bodyPr wrap="square" lIns="0" tIns="0" rIns="0" bIns="0" rtlCol="0" anchor="ctr"/>
          <a:lstStyle/>
          <a:p>
            <a:pPr indent="0" marL="0">
              <a:buNone/>
            </a:pPr>
            <a:r>
              <a:rPr lang="en-US" sz="1050" b="1" dirty="0">
                <a:solidFill>
                  <a:srgbClr val="0F6E64"/>
                </a:solidFill>
                <a:latin typeface="Calibri" pitchFamily="34" charset="0"/>
                <a:ea typeface="Calibri" pitchFamily="34" charset="-122"/>
                <a:cs typeface="Calibri" pitchFamily="34" charset="-120"/>
              </a:rPr>
              <a:t>3</a:t>
            </a:r>
            <a:endParaRPr lang="en-US" sz="1050" dirty="0"/>
          </a:p>
        </p:txBody>
      </p:sp>
      <p:sp>
        <p:nvSpPr>
          <p:cNvPr id="47" name="Text 45"/>
          <p:cNvSpPr txBox="1"/>
          <p:nvPr/>
        </p:nvSpPr>
        <p:spPr>
          <a:xfrm>
            <a:off x="6419088" y="4572000"/>
            <a:ext cx="5266944" cy="201168"/>
          </a:xfrm>
          <a:prstGeom prst="rect">
            <a:avLst/>
          </a:prstGeom>
          <a:noFill/>
          <a:ln/>
        </p:spPr>
        <p:txBody>
          <a:bodyPr wrap="square" lIns="0" tIns="0" rIns="0" bIns="0" rtlCol="0" anchor="ctr"/>
          <a:lstStyle/>
          <a:p>
            <a:pPr indent="0" marL="0">
              <a:buNone/>
            </a:pPr>
            <a:r>
              <a:rPr lang="en-US" sz="1100" b="1" dirty="0">
                <a:solidFill>
                  <a:srgbClr val="1C232B"/>
                </a:solidFill>
                <a:latin typeface="Calibri" pitchFamily="34" charset="0"/>
                <a:ea typeface="Calibri" pitchFamily="34" charset="-122"/>
                <a:cs typeface="Calibri" pitchFamily="34" charset="-120"/>
              </a:rPr>
              <a:t>Wider speaker pool</a:t>
            </a:r>
            <a:endParaRPr lang="en-US" sz="1100" dirty="0"/>
          </a:p>
        </p:txBody>
      </p:sp>
      <p:sp>
        <p:nvSpPr>
          <p:cNvPr id="48" name="Text 46"/>
          <p:cNvSpPr txBox="1"/>
          <p:nvPr/>
        </p:nvSpPr>
        <p:spPr>
          <a:xfrm>
            <a:off x="6419088" y="4764024"/>
            <a:ext cx="5266944" cy="402336"/>
          </a:xfrm>
          <a:prstGeom prst="rect">
            <a:avLst/>
          </a:prstGeom>
          <a:noFill/>
          <a:ln/>
        </p:spPr>
        <p:txBody>
          <a:bodyPr wrap="square" lIns="0" tIns="0" rIns="0" bIns="0" rtlCol="0" anchor="ctr"/>
          <a:lstStyle/>
          <a:p>
            <a:pPr indent="0" marL="0">
              <a:lnSpc>
                <a:spcPts val="1150"/>
              </a:lnSpc>
              <a:buNone/>
            </a:pPr>
            <a:r>
              <a:rPr lang="en-US" sz="950" dirty="0">
                <a:solidFill>
                  <a:srgbClr val="58626D"/>
                </a:solidFill>
                <a:latin typeface="Calibri" pitchFamily="34" charset="0"/>
                <a:ea typeface="Calibri" pitchFamily="34" charset="-122"/>
                <a:cs typeface="Calibri" pitchFamily="34" charset="-120"/>
              </a:rPr>
              <a:t>24 actors gives plus or minus 7.5 pp instability. Merging a second emotion corpus tests whether the gap is about method or about sample size.</a:t>
            </a:r>
            <a:endParaRPr lang="en-US" sz="950" dirty="0"/>
          </a:p>
        </p:txBody>
      </p:sp>
      <p:sp>
        <p:nvSpPr>
          <p:cNvPr id="49" name="Text 47"/>
          <p:cNvSpPr txBox="1"/>
          <p:nvPr/>
        </p:nvSpPr>
        <p:spPr>
          <a:xfrm>
            <a:off x="6172200" y="5230368"/>
            <a:ext cx="219456" cy="201168"/>
          </a:xfrm>
          <a:prstGeom prst="rect">
            <a:avLst/>
          </a:prstGeom>
          <a:noFill/>
          <a:ln/>
        </p:spPr>
        <p:txBody>
          <a:bodyPr wrap="square" lIns="0" tIns="0" rIns="0" bIns="0" rtlCol="0" anchor="ctr"/>
          <a:lstStyle/>
          <a:p>
            <a:pPr indent="0" marL="0">
              <a:buNone/>
            </a:pPr>
            <a:r>
              <a:rPr lang="en-US" sz="1050" b="1" dirty="0">
                <a:solidFill>
                  <a:srgbClr val="0F6E64"/>
                </a:solidFill>
                <a:latin typeface="Calibri" pitchFamily="34" charset="0"/>
                <a:ea typeface="Calibri" pitchFamily="34" charset="-122"/>
                <a:cs typeface="Calibri" pitchFamily="34" charset="-120"/>
              </a:rPr>
              <a:t>4</a:t>
            </a:r>
            <a:endParaRPr lang="en-US" sz="1050" dirty="0"/>
          </a:p>
        </p:txBody>
      </p:sp>
      <p:sp>
        <p:nvSpPr>
          <p:cNvPr id="50" name="Text 48"/>
          <p:cNvSpPr txBox="1"/>
          <p:nvPr/>
        </p:nvSpPr>
        <p:spPr>
          <a:xfrm>
            <a:off x="6419088" y="5221224"/>
            <a:ext cx="5266944" cy="201168"/>
          </a:xfrm>
          <a:prstGeom prst="rect">
            <a:avLst/>
          </a:prstGeom>
          <a:noFill/>
          <a:ln/>
        </p:spPr>
        <p:txBody>
          <a:bodyPr wrap="square" lIns="0" tIns="0" rIns="0" bIns="0" rtlCol="0" anchor="ctr"/>
          <a:lstStyle/>
          <a:p>
            <a:pPr indent="0" marL="0">
              <a:buNone/>
            </a:pPr>
            <a:r>
              <a:rPr lang="en-US" sz="1100" b="1" dirty="0">
                <a:solidFill>
                  <a:srgbClr val="1C232B"/>
                </a:solidFill>
                <a:latin typeface="Calibri" pitchFamily="34" charset="0"/>
                <a:ea typeface="Calibri" pitchFamily="34" charset="-122"/>
                <a:cs typeface="Calibri" pitchFamily="34" charset="-120"/>
              </a:rPr>
              <a:t>Confidence-based abstention</a:t>
            </a:r>
            <a:endParaRPr lang="en-US" sz="1100" dirty="0"/>
          </a:p>
        </p:txBody>
      </p:sp>
      <p:sp>
        <p:nvSpPr>
          <p:cNvPr id="51" name="Text 49"/>
          <p:cNvSpPr txBox="1"/>
          <p:nvPr/>
        </p:nvSpPr>
        <p:spPr>
          <a:xfrm>
            <a:off x="6419088" y="5413248"/>
            <a:ext cx="5266944" cy="402336"/>
          </a:xfrm>
          <a:prstGeom prst="rect">
            <a:avLst/>
          </a:prstGeom>
          <a:noFill/>
          <a:ln/>
        </p:spPr>
        <p:txBody>
          <a:bodyPr wrap="square" lIns="0" tIns="0" rIns="0" bIns="0" rtlCol="0" anchor="ctr"/>
          <a:lstStyle/>
          <a:p>
            <a:pPr indent="0" marL="0">
              <a:lnSpc>
                <a:spcPts val="1150"/>
              </a:lnSpc>
              <a:buNone/>
            </a:pPr>
            <a:r>
              <a:rPr lang="en-US" sz="950" dirty="0">
                <a:solidFill>
                  <a:srgbClr val="58626D"/>
                </a:solidFill>
                <a:latin typeface="Calibri" pitchFamily="34" charset="0"/>
                <a:ea typeface="Calibri" pitchFamily="34" charset="-122"/>
                <a:cs typeface="Calibri" pitchFamily="34" charset="-120"/>
              </a:rPr>
              <a:t>At this accuracy a fully automatic system is not deployable. One that flags only high-confidence cases and defers the rest is.</a:t>
            </a:r>
            <a:endParaRPr lang="en-US" sz="950" dirty="0"/>
          </a:p>
        </p:txBody>
      </p:sp>
      <p:sp>
        <p:nvSpPr>
          <p:cNvPr id="52" name="Shape 50"/>
          <p:cNvSpPr/>
          <p:nvPr/>
        </p:nvSpPr>
        <p:spPr>
          <a:xfrm>
            <a:off x="502920" y="5925312"/>
            <a:ext cx="11183112" cy="457200"/>
          </a:xfrm>
          <a:prstGeom prst="rect">
            <a:avLst/>
          </a:prstGeom>
          <a:solidFill>
            <a:srgbClr val="F3F6F7"/>
          </a:solidFill>
          <a:ln w="12700">
            <a:solidFill>
              <a:srgbClr val="F3F6F7"/>
            </a:solidFill>
            <a:prstDash val="solid"/>
          </a:ln>
        </p:spPr>
      </p:sp>
      <p:sp>
        <p:nvSpPr>
          <p:cNvPr id="53" name="Text 51"/>
          <p:cNvSpPr txBox="1"/>
          <p:nvPr/>
        </p:nvSpPr>
        <p:spPr>
          <a:xfrm>
            <a:off x="658368" y="6007608"/>
            <a:ext cx="2377440" cy="292608"/>
          </a:xfrm>
          <a:prstGeom prst="rect">
            <a:avLst/>
          </a:prstGeom>
          <a:noFill/>
          <a:ln/>
        </p:spPr>
        <p:txBody>
          <a:bodyPr wrap="square" lIns="0" tIns="0" rIns="0" bIns="0" rtlCol="0" anchor="ctr"/>
          <a:lstStyle/>
          <a:p>
            <a:pPr indent="0" marL="0">
              <a:lnSpc>
                <a:spcPts val="1150"/>
              </a:lnSpc>
              <a:buNone/>
            </a:pPr>
            <a:r>
              <a:rPr lang="en-US" sz="1000" b="1" dirty="0">
                <a:solidFill>
                  <a:srgbClr val="1C232B"/>
                </a:solidFill>
                <a:latin typeface="Calibri" pitchFamily="34" charset="0"/>
                <a:ea typeface="Calibri" pitchFamily="34" charset="-122"/>
                <a:cs typeface="Calibri" pitchFamily="34" charset="-120"/>
              </a:rPr>
              <a:t>Controls against leakage and overfitting</a:t>
            </a:r>
            <a:endParaRPr lang="en-US" sz="1000" dirty="0"/>
          </a:p>
        </p:txBody>
      </p:sp>
      <p:sp>
        <p:nvSpPr>
          <p:cNvPr id="54" name="Text 52"/>
          <p:cNvSpPr txBox="1"/>
          <p:nvPr/>
        </p:nvSpPr>
        <p:spPr>
          <a:xfrm>
            <a:off x="3218688" y="6007608"/>
            <a:ext cx="2066544" cy="292608"/>
          </a:xfrm>
          <a:prstGeom prst="rect">
            <a:avLst/>
          </a:prstGeom>
          <a:noFill/>
          <a:ln/>
        </p:spPr>
        <p:txBody>
          <a:bodyPr wrap="square" lIns="0" tIns="0" rIns="0" bIns="0" rtlCol="0" anchor="ctr"/>
          <a:lstStyle/>
          <a:p>
            <a:pPr indent="0" marL="0">
              <a:lnSpc>
                <a:spcPts val="1050"/>
              </a:lnSpc>
              <a:buNone/>
            </a:pPr>
            <a:r>
              <a:rPr lang="en-US" sz="850" dirty="0">
                <a:solidFill>
                  <a:srgbClr val="58626D"/>
                </a:solidFill>
                <a:latin typeface="Calibri" pitchFamily="34" charset="0"/>
                <a:ea typeface="Calibri" pitchFamily="34" charset="-122"/>
                <a:cs typeface="Calibri" pitchFamily="34" charset="-120"/>
              </a:rPr>
              <a:t>Speakers, not time, are the dependency: folds group by actor</a:t>
            </a:r>
            <a:endParaRPr lang="en-US" sz="850" dirty="0"/>
          </a:p>
        </p:txBody>
      </p:sp>
      <p:sp>
        <p:nvSpPr>
          <p:cNvPr id="55" name="Text 53"/>
          <p:cNvSpPr txBox="1"/>
          <p:nvPr/>
        </p:nvSpPr>
        <p:spPr>
          <a:xfrm>
            <a:off x="5358384" y="6007608"/>
            <a:ext cx="2066544" cy="292608"/>
          </a:xfrm>
          <a:prstGeom prst="rect">
            <a:avLst/>
          </a:prstGeom>
          <a:noFill/>
          <a:ln/>
        </p:spPr>
        <p:txBody>
          <a:bodyPr wrap="square" lIns="0" tIns="0" rIns="0" bIns="0" rtlCol="0" anchor="ctr"/>
          <a:lstStyle/>
          <a:p>
            <a:pPr indent="0" marL="0">
              <a:lnSpc>
                <a:spcPts val="1050"/>
              </a:lnSpc>
              <a:buNone/>
            </a:pPr>
            <a:r>
              <a:rPr lang="en-US" sz="850" dirty="0">
                <a:solidFill>
                  <a:srgbClr val="58626D"/>
                </a:solidFill>
                <a:latin typeface="Calibri" pitchFamily="34" charset="0"/>
                <a:ea typeface="Calibri" pitchFamily="34" charset="-122"/>
                <a:cs typeface="Calibri" pitchFamily="34" charset="-120"/>
              </a:rPr>
              <a:t>The scaler fits inside the pipeline, on the training fold only</a:t>
            </a:r>
            <a:endParaRPr lang="en-US" sz="850" dirty="0"/>
          </a:p>
        </p:txBody>
      </p:sp>
      <p:sp>
        <p:nvSpPr>
          <p:cNvPr id="56" name="Text 54"/>
          <p:cNvSpPr txBox="1"/>
          <p:nvPr/>
        </p:nvSpPr>
        <p:spPr>
          <a:xfrm>
            <a:off x="7498080" y="6007608"/>
            <a:ext cx="2066544" cy="292608"/>
          </a:xfrm>
          <a:prstGeom prst="rect">
            <a:avLst/>
          </a:prstGeom>
          <a:noFill/>
          <a:ln/>
        </p:spPr>
        <p:txBody>
          <a:bodyPr wrap="square" lIns="0" tIns="0" rIns="0" bIns="0" rtlCol="0" anchor="ctr"/>
          <a:lstStyle/>
          <a:p>
            <a:pPr indent="0" marL="0">
              <a:lnSpc>
                <a:spcPts val="1050"/>
              </a:lnSpc>
              <a:buNone/>
            </a:pPr>
            <a:r>
              <a:rPr lang="en-US" sz="850" dirty="0">
                <a:solidFill>
                  <a:srgbClr val="58626D"/>
                </a:solidFill>
                <a:latin typeface="Calibri" pitchFamily="34" charset="0"/>
                <a:ea typeface="Calibri" pitchFamily="34" charset="-122"/>
                <a:cs typeface="Calibri" pitchFamily="34" charset="-120"/>
              </a:rPr>
              <a:t>Tuning uses grouped inner CV, so the search cannot leak either</a:t>
            </a:r>
            <a:endParaRPr lang="en-US" sz="850" dirty="0"/>
          </a:p>
        </p:txBody>
      </p:sp>
      <p:sp>
        <p:nvSpPr>
          <p:cNvPr id="57" name="Text 55"/>
          <p:cNvSpPr txBox="1"/>
          <p:nvPr/>
        </p:nvSpPr>
        <p:spPr>
          <a:xfrm>
            <a:off x="9637776" y="6007608"/>
            <a:ext cx="2066544" cy="292608"/>
          </a:xfrm>
          <a:prstGeom prst="rect">
            <a:avLst/>
          </a:prstGeom>
          <a:noFill/>
          <a:ln/>
        </p:spPr>
        <p:txBody>
          <a:bodyPr wrap="square" lIns="0" tIns="0" rIns="0" bIns="0" rtlCol="0" anchor="ctr"/>
          <a:lstStyle/>
          <a:p>
            <a:pPr indent="0" marL="0">
              <a:lnSpc>
                <a:spcPts val="1050"/>
              </a:lnSpc>
              <a:buNone/>
            </a:pPr>
            <a:r>
              <a:rPr lang="en-US" sz="850" dirty="0">
                <a:solidFill>
                  <a:srgbClr val="58626D"/>
                </a:solidFill>
                <a:latin typeface="Calibri" pitchFamily="34" charset="0"/>
                <a:ea typeface="Calibri" pitchFamily="34" charset="-122"/>
                <a:cs typeface="Calibri" pitchFamily="34" charset="-120"/>
              </a:rPr>
              <a:t>Random split retained only as a control, never reported alone</a:t>
            </a:r>
            <a:endParaRPr lang="en-US" sz="850" dirty="0"/>
          </a:p>
        </p:txBody>
      </p:sp>
      <p:sp>
        <p:nvSpPr>
          <p:cNvPr id="58" name="Text 56"/>
          <p:cNvSpPr txBox="1"/>
          <p:nvPr/>
        </p:nvSpPr>
        <p:spPr>
          <a:xfrm>
            <a:off x="502920" y="6473952"/>
            <a:ext cx="11155680" cy="237744"/>
          </a:xfrm>
          <a:prstGeom prst="rect">
            <a:avLst/>
          </a:prstGeom>
          <a:noFill/>
          <a:ln/>
        </p:spPr>
        <p:txBody>
          <a:bodyPr wrap="square" lIns="0" tIns="0" rIns="0" bIns="0" rtlCol="0" anchor="ctr"/>
          <a:lstStyle/>
          <a:p>
            <a:pPr indent="0" marL="0">
              <a:buNone/>
            </a:pPr>
            <a:r>
              <a:rPr lang="en-US" sz="850" dirty="0">
                <a:solidFill>
                  <a:srgbClr val="949DA6"/>
                </a:solidFill>
                <a:latin typeface="Calibri" pitchFamily="34" charset="0"/>
                <a:ea typeface="Calibri" pitchFamily="34" charset="-122"/>
                <a:cs typeface="Calibri" pitchFamily="34" charset="-120"/>
              </a:rPr>
              <a:t>Source: own analysis on RAVDESS (Livingstone and Russo, 2018). Feature effects measured with SVM-RBF held constant; macro-F1 pooled out-of-fold under the speaker-held-out protocol. pp = percentage points.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457200"/>
          </a:xfrm>
          <a:prstGeom prst="rect">
            <a:avLst/>
          </a:prstGeom>
          <a:noFill/>
          <a:ln/>
        </p:spPr>
        <p:txBody>
          <a:bodyPr wrap="square" lIns="0" tIns="0" rIns="0" bIns="0" rtlCol="0" anchor="ctr"/>
          <a:lstStyle/>
          <a:p>
            <a:pPr indent="0" marL="0">
              <a:buNone/>
            </a:pPr>
            <a:r>
              <a:rPr lang="en-US" sz="3100" b="1" dirty="0">
                <a:solidFill>
                  <a:srgbClr val="1C232B"/>
                </a:solidFill>
                <a:latin typeface="Cambria" pitchFamily="34" charset="0"/>
                <a:ea typeface="Cambria" pitchFamily="34" charset="-122"/>
                <a:cs typeface="Cambria" pitchFamily="34" charset="-120"/>
              </a:rPr>
              <a:t>Preliminary Results and Interpretation</a:t>
            </a:r>
            <a:endParaRPr lang="en-US" sz="3100" dirty="0"/>
          </a:p>
        </p:txBody>
      </p:sp>
      <p:sp>
        <p:nvSpPr>
          <p:cNvPr id="3" name="Text 1"/>
          <p:cNvSpPr txBox="1"/>
          <p:nvPr/>
        </p:nvSpPr>
        <p:spPr>
          <a:xfrm>
            <a:off x="502920" y="786384"/>
            <a:ext cx="11155680" cy="274320"/>
          </a:xfrm>
          <a:prstGeom prst="rect">
            <a:avLst/>
          </a:prstGeom>
          <a:noFill/>
          <a:ln/>
        </p:spPr>
        <p:txBody>
          <a:bodyPr wrap="square" lIns="0" tIns="0" rIns="0" bIns="0" rtlCol="0" anchor="ctr"/>
          <a:lstStyle/>
          <a:p>
            <a:pPr indent="0" marL="0">
              <a:buNone/>
            </a:pPr>
            <a:r>
              <a:rPr lang="en-US" sz="1250" dirty="0">
                <a:solidFill>
                  <a:srgbClr val="58626D"/>
                </a:solidFill>
                <a:latin typeface="Calibri" pitchFamily="34" charset="0"/>
                <a:ea typeface="Calibri" pitchFamily="34" charset="-122"/>
                <a:cs typeface="Calibri" pitchFamily="34" charset="-120"/>
              </a:rPr>
              <a:t>All performance figures are held out on speakers the model never trained on. No training scores are reported.</a:t>
            </a:r>
            <a:endParaRPr lang="en-US" sz="1250" dirty="0"/>
          </a:p>
        </p:txBody>
      </p:sp>
      <p:sp>
        <p:nvSpPr>
          <p:cNvPr id="4" name="Text 2"/>
          <p:cNvSpPr txBox="1"/>
          <p:nvPr/>
        </p:nvSpPr>
        <p:spPr>
          <a:xfrm>
            <a:off x="502920" y="1152144"/>
            <a:ext cx="1353312" cy="402336"/>
          </a:xfrm>
          <a:prstGeom prst="rect">
            <a:avLst/>
          </a:prstGeom>
          <a:noFill/>
          <a:ln/>
        </p:spPr>
        <p:txBody>
          <a:bodyPr wrap="square" lIns="0" tIns="0" rIns="0" bIns="0" rtlCol="0" anchor="ctr"/>
          <a:lstStyle/>
          <a:p>
            <a:pPr indent="0" marL="0">
              <a:buNone/>
            </a:pPr>
            <a:r>
              <a:rPr lang="en-US" sz="2400" b="1" dirty="0">
                <a:solidFill>
                  <a:srgbClr val="0F6E64"/>
                </a:solidFill>
                <a:latin typeface="Cambria" pitchFamily="34" charset="0"/>
                <a:ea typeface="Cambria" pitchFamily="34" charset="-122"/>
                <a:cs typeface="Cambria" pitchFamily="34" charset="-120"/>
              </a:rPr>
              <a:t>63.9%</a:t>
            </a:r>
            <a:endParaRPr lang="en-US" sz="2400" dirty="0"/>
          </a:p>
        </p:txBody>
      </p:sp>
      <p:sp>
        <p:nvSpPr>
          <p:cNvPr id="5" name="Text 3"/>
          <p:cNvSpPr txBox="1"/>
          <p:nvPr/>
        </p:nvSpPr>
        <p:spPr>
          <a:xfrm>
            <a:off x="502920" y="1572768"/>
            <a:ext cx="1353312" cy="365760"/>
          </a:xfrm>
          <a:prstGeom prst="rect">
            <a:avLst/>
          </a:prstGeom>
          <a:noFill/>
          <a:ln/>
        </p:spPr>
        <p:txBody>
          <a:bodyPr wrap="square" lIns="0" tIns="0" rIns="0" bIns="0" rtlCol="0" anchor="ctr"/>
          <a:lstStyle/>
          <a:p>
            <a:pPr indent="0" marL="0">
              <a:lnSpc>
                <a:spcPts val="1000"/>
              </a:lnSpc>
              <a:buNone/>
            </a:pPr>
            <a:r>
              <a:rPr lang="en-US" sz="850" dirty="0">
                <a:solidFill>
                  <a:srgbClr val="58626D"/>
                </a:solidFill>
                <a:latin typeface="Calibri" pitchFamily="34" charset="0"/>
                <a:ea typeface="Calibri" pitchFamily="34" charset="-122"/>
                <a:cs typeface="Calibri" pitchFamily="34" charset="-120"/>
              </a:rPr>
              <a:t>Accuracy, unseen speakers</a:t>
            </a:r>
            <a:endParaRPr lang="en-US" sz="850" dirty="0"/>
          </a:p>
        </p:txBody>
      </p:sp>
      <p:sp>
        <p:nvSpPr>
          <p:cNvPr id="6" name="Text 4"/>
          <p:cNvSpPr txBox="1"/>
          <p:nvPr/>
        </p:nvSpPr>
        <p:spPr>
          <a:xfrm>
            <a:off x="1920240" y="1152144"/>
            <a:ext cx="1353312" cy="402336"/>
          </a:xfrm>
          <a:prstGeom prst="rect">
            <a:avLst/>
          </a:prstGeom>
          <a:noFill/>
          <a:ln/>
        </p:spPr>
        <p:txBody>
          <a:bodyPr wrap="square" lIns="0" tIns="0" rIns="0" bIns="0" rtlCol="0" anchor="ctr"/>
          <a:lstStyle/>
          <a:p>
            <a:pPr indent="0" marL="0">
              <a:buNone/>
            </a:pPr>
            <a:r>
              <a:rPr lang="en-US" sz="2400" b="1" dirty="0">
                <a:solidFill>
                  <a:srgbClr val="0F6E64"/>
                </a:solidFill>
                <a:latin typeface="Cambria" pitchFamily="34" charset="0"/>
                <a:ea typeface="Cambria" pitchFamily="34" charset="-122"/>
                <a:cs typeface="Cambria" pitchFamily="34" charset="-120"/>
              </a:rPr>
              <a:t>0.633</a:t>
            </a:r>
            <a:endParaRPr lang="en-US" sz="2400" dirty="0"/>
          </a:p>
        </p:txBody>
      </p:sp>
      <p:sp>
        <p:nvSpPr>
          <p:cNvPr id="7" name="Text 5"/>
          <p:cNvSpPr txBox="1"/>
          <p:nvPr/>
        </p:nvSpPr>
        <p:spPr>
          <a:xfrm>
            <a:off x="1920240" y="1572768"/>
            <a:ext cx="1353312" cy="365760"/>
          </a:xfrm>
          <a:prstGeom prst="rect">
            <a:avLst/>
          </a:prstGeom>
          <a:noFill/>
          <a:ln/>
        </p:spPr>
        <p:txBody>
          <a:bodyPr wrap="square" lIns="0" tIns="0" rIns="0" bIns="0" rtlCol="0" anchor="ctr"/>
          <a:lstStyle/>
          <a:p>
            <a:pPr indent="0" marL="0">
              <a:lnSpc>
                <a:spcPts val="1000"/>
              </a:lnSpc>
              <a:buNone/>
            </a:pPr>
            <a:r>
              <a:rPr lang="en-US" sz="850" dirty="0">
                <a:solidFill>
                  <a:srgbClr val="58626D"/>
                </a:solidFill>
                <a:latin typeface="Calibri" pitchFamily="34" charset="0"/>
                <a:ea typeface="Calibri" pitchFamily="34" charset="-122"/>
                <a:cs typeface="Calibri" pitchFamily="34" charset="-120"/>
              </a:rPr>
              <a:t>Macro-F1, the headline metric</a:t>
            </a:r>
            <a:endParaRPr lang="en-US" sz="850" dirty="0"/>
          </a:p>
        </p:txBody>
      </p:sp>
      <p:sp>
        <p:nvSpPr>
          <p:cNvPr id="8" name="Text 6"/>
          <p:cNvSpPr txBox="1"/>
          <p:nvPr/>
        </p:nvSpPr>
        <p:spPr>
          <a:xfrm>
            <a:off x="3337560" y="1152144"/>
            <a:ext cx="1353312" cy="402336"/>
          </a:xfrm>
          <a:prstGeom prst="rect">
            <a:avLst/>
          </a:prstGeom>
          <a:noFill/>
          <a:ln/>
        </p:spPr>
        <p:txBody>
          <a:bodyPr wrap="square" lIns="0" tIns="0" rIns="0" bIns="0" rtlCol="0" anchor="ctr"/>
          <a:lstStyle/>
          <a:p>
            <a:pPr indent="0" marL="0">
              <a:buNone/>
            </a:pPr>
            <a:r>
              <a:rPr lang="en-US" sz="2400" b="1" dirty="0">
                <a:solidFill>
                  <a:srgbClr val="1C232B"/>
                </a:solidFill>
                <a:latin typeface="Cambria" pitchFamily="34" charset="0"/>
                <a:ea typeface="Cambria" pitchFamily="34" charset="-122"/>
                <a:cs typeface="Cambria" pitchFamily="34" charset="-120"/>
              </a:rPr>
              <a:t>4.8x</a:t>
            </a:r>
            <a:endParaRPr lang="en-US" sz="2400" dirty="0"/>
          </a:p>
        </p:txBody>
      </p:sp>
      <p:sp>
        <p:nvSpPr>
          <p:cNvPr id="9" name="Text 7"/>
          <p:cNvSpPr txBox="1"/>
          <p:nvPr/>
        </p:nvSpPr>
        <p:spPr>
          <a:xfrm>
            <a:off x="3337560" y="1572768"/>
            <a:ext cx="1353312" cy="365760"/>
          </a:xfrm>
          <a:prstGeom prst="rect">
            <a:avLst/>
          </a:prstGeom>
          <a:noFill/>
          <a:ln/>
        </p:spPr>
        <p:txBody>
          <a:bodyPr wrap="square" lIns="0" tIns="0" rIns="0" bIns="0" rtlCol="0" anchor="ctr"/>
          <a:lstStyle/>
          <a:p>
            <a:pPr indent="0" marL="0">
              <a:lnSpc>
                <a:spcPts val="1000"/>
              </a:lnSpc>
              <a:buNone/>
            </a:pPr>
            <a:r>
              <a:rPr lang="en-US" sz="850" dirty="0">
                <a:solidFill>
                  <a:srgbClr val="58626D"/>
                </a:solidFill>
                <a:latin typeface="Calibri" pitchFamily="34" charset="0"/>
                <a:ea typeface="Calibri" pitchFamily="34" charset="-122"/>
                <a:cs typeface="Calibri" pitchFamily="34" charset="-120"/>
              </a:rPr>
              <a:t>Better than a majority-class guess</a:t>
            </a:r>
            <a:endParaRPr lang="en-US" sz="850" dirty="0"/>
          </a:p>
        </p:txBody>
      </p:sp>
      <p:sp>
        <p:nvSpPr>
          <p:cNvPr id="10" name="Text 8"/>
          <p:cNvSpPr txBox="1"/>
          <p:nvPr/>
        </p:nvSpPr>
        <p:spPr>
          <a:xfrm>
            <a:off x="4754880" y="1152144"/>
            <a:ext cx="1353312" cy="402336"/>
          </a:xfrm>
          <a:prstGeom prst="rect">
            <a:avLst/>
          </a:prstGeom>
          <a:noFill/>
          <a:ln/>
        </p:spPr>
        <p:txBody>
          <a:bodyPr wrap="square" lIns="0" tIns="0" rIns="0" bIns="0" rtlCol="0" anchor="ctr"/>
          <a:lstStyle/>
          <a:p>
            <a:pPr indent="0" marL="0">
              <a:buNone/>
            </a:pPr>
            <a:r>
              <a:rPr lang="en-US" sz="2400" b="1" dirty="0">
                <a:solidFill>
                  <a:srgbClr val="B4531B"/>
                </a:solidFill>
                <a:latin typeface="Cambria" pitchFamily="34" charset="0"/>
                <a:ea typeface="Cambria" pitchFamily="34" charset="-122"/>
                <a:cs typeface="Cambria" pitchFamily="34" charset="-120"/>
              </a:rPr>
              <a:t>11.0 pp</a:t>
            </a:r>
            <a:endParaRPr lang="en-US" sz="2400" dirty="0"/>
          </a:p>
        </p:txBody>
      </p:sp>
      <p:sp>
        <p:nvSpPr>
          <p:cNvPr id="11" name="Text 9"/>
          <p:cNvSpPr txBox="1"/>
          <p:nvPr/>
        </p:nvSpPr>
        <p:spPr>
          <a:xfrm>
            <a:off x="4754880" y="1572768"/>
            <a:ext cx="1353312" cy="365760"/>
          </a:xfrm>
          <a:prstGeom prst="rect">
            <a:avLst/>
          </a:prstGeom>
          <a:noFill/>
          <a:ln/>
        </p:spPr>
        <p:txBody>
          <a:bodyPr wrap="square" lIns="0" tIns="0" rIns="0" bIns="0" rtlCol="0" anchor="ctr"/>
          <a:lstStyle/>
          <a:p>
            <a:pPr indent="0" marL="0">
              <a:lnSpc>
                <a:spcPts val="1000"/>
              </a:lnSpc>
              <a:buNone/>
            </a:pPr>
            <a:r>
              <a:rPr lang="en-US" sz="850" dirty="0">
                <a:solidFill>
                  <a:srgbClr val="58626D"/>
                </a:solidFill>
                <a:latin typeface="Calibri" pitchFamily="34" charset="0"/>
                <a:ea typeface="Calibri" pitchFamily="34" charset="-122"/>
                <a:cs typeface="Calibri" pitchFamily="34" charset="-120"/>
              </a:rPr>
              <a:t>Inflation from a random split</a:t>
            </a:r>
            <a:endParaRPr lang="en-US" sz="850" dirty="0"/>
          </a:p>
        </p:txBody>
      </p:sp>
      <p:sp>
        <p:nvSpPr>
          <p:cNvPr id="12" name="Shape 10"/>
          <p:cNvSpPr/>
          <p:nvPr/>
        </p:nvSpPr>
        <p:spPr>
          <a:xfrm>
            <a:off x="6272784" y="1170432"/>
            <a:ext cx="0" cy="731520"/>
          </a:xfrm>
          <a:prstGeom prst="line">
            <a:avLst/>
          </a:prstGeom>
          <a:noFill/>
          <a:ln w="12700">
            <a:solidFill>
              <a:srgbClr val="DCE0E4"/>
            </a:solidFill>
            <a:prstDash val="solid"/>
          </a:ln>
        </p:spPr>
      </p:sp>
      <p:sp>
        <p:nvSpPr>
          <p:cNvPr id="13" name="Text 11"/>
          <p:cNvSpPr txBox="1"/>
          <p:nvPr/>
        </p:nvSpPr>
        <p:spPr>
          <a:xfrm>
            <a:off x="6547104" y="1152144"/>
            <a:ext cx="1417320" cy="402336"/>
          </a:xfrm>
          <a:prstGeom prst="rect">
            <a:avLst/>
          </a:prstGeom>
          <a:noFill/>
          <a:ln/>
        </p:spPr>
        <p:txBody>
          <a:bodyPr wrap="square" lIns="0" tIns="0" rIns="0" bIns="0" rtlCol="0" anchor="ctr"/>
          <a:lstStyle/>
          <a:p>
            <a:pPr indent="0" marL="0">
              <a:buNone/>
            </a:pPr>
            <a:r>
              <a:rPr lang="en-US" sz="2400" b="1" dirty="0">
                <a:solidFill>
                  <a:srgbClr val="B4531B"/>
                </a:solidFill>
                <a:latin typeface="Cambria" pitchFamily="34" charset="0"/>
                <a:ea typeface="Cambria" pitchFamily="34" charset="-122"/>
                <a:cs typeface="Cambria" pitchFamily="34" charset="-120"/>
              </a:rPr>
              <a:t>92.7%</a:t>
            </a:r>
            <a:endParaRPr lang="en-US" sz="2400" dirty="0"/>
          </a:p>
        </p:txBody>
      </p:sp>
      <p:sp>
        <p:nvSpPr>
          <p:cNvPr id="14" name="Text 12"/>
          <p:cNvSpPr txBox="1"/>
          <p:nvPr/>
        </p:nvSpPr>
        <p:spPr>
          <a:xfrm>
            <a:off x="8028432" y="1188720"/>
            <a:ext cx="3657600" cy="402336"/>
          </a:xfrm>
          <a:prstGeom prst="rect">
            <a:avLst/>
          </a:prstGeom>
          <a:noFill/>
          <a:ln/>
        </p:spPr>
        <p:txBody>
          <a:bodyPr wrap="square" lIns="0" tIns="0" rIns="0" bIns="0" rtlCol="0" anchor="ctr"/>
          <a:lstStyle/>
          <a:p>
            <a:pPr indent="0" marL="0">
              <a:lnSpc>
                <a:spcPts val="1100"/>
              </a:lnSpc>
              <a:buNone/>
            </a:pPr>
            <a:r>
              <a:rPr lang="en-US" sz="900" dirty="0">
                <a:solidFill>
                  <a:srgbClr val="1C232B"/>
                </a:solidFill>
                <a:latin typeface="Calibri" pitchFamily="34" charset="0"/>
                <a:ea typeface="Calibri" pitchFamily="34" charset="-122"/>
                <a:cs typeface="Calibri" pitchFamily="34" charset="-120"/>
              </a:rPr>
              <a:t>Actor identity recoverable from our features. </a:t>
            </a:r>
            <a:pPr indent="0" marL="0">
              <a:lnSpc>
                <a:spcPts val="1100"/>
              </a:lnSpc>
              <a:buNone/>
            </a:pPr>
            <a:r>
              <a:rPr lang="en-US" sz="900" dirty="0">
                <a:solidFill>
                  <a:srgbClr val="58626D"/>
                </a:solidFill>
                <a:latin typeface="Calibri" pitchFamily="34" charset="0"/>
                <a:ea typeface="Calibri" pitchFamily="34" charset="-122"/>
                <a:cs typeface="Calibri" pitchFamily="34" charset="-120"/>
              </a:rPr>
              <a:t>This is the cause of the leakage above, not a result.</a:t>
            </a:r>
            <a:endParaRPr lang="en-US" sz="900" dirty="0"/>
          </a:p>
        </p:txBody>
      </p:sp>
      <p:sp>
        <p:nvSpPr>
          <p:cNvPr id="15" name="Shape 13"/>
          <p:cNvSpPr/>
          <p:nvPr/>
        </p:nvSpPr>
        <p:spPr>
          <a:xfrm>
            <a:off x="502920" y="2048256"/>
            <a:ext cx="11183112" cy="0"/>
          </a:xfrm>
          <a:prstGeom prst="line">
            <a:avLst/>
          </a:prstGeom>
          <a:noFill/>
          <a:ln w="12700">
            <a:solidFill>
              <a:srgbClr val="DCE0E4"/>
            </a:solidFill>
            <a:prstDash val="solid"/>
          </a:ln>
        </p:spPr>
      </p:sp>
      <p:graphicFrame>
        <p:nvGraphicFramePr>
          <p:cNvPr id="16" name="Chart 0" descr=""/>
          <p:cNvGraphicFramePr/>
          <p:nvPr/>
        </p:nvGraphicFramePr>
        <p:xfrm>
          <a:off x="457200" y="2194560"/>
          <a:ext cx="5532120" cy="2651760"/>
        </p:xfrm>
        <a:graphic xmlns:a="http://schemas.openxmlformats.org/drawingml/2006/main">
          <a:graphicData uri="http://schemas.openxmlformats.org/drawingml/2006/chart">
            <c:chart xmlns:c="http://schemas.openxmlformats.org/drawingml/2006/chart" r:id="rId1"/>
          </a:graphicData>
        </a:graphic>
      </p:graphicFrame>
      <p:sp>
        <p:nvSpPr>
          <p:cNvPr id="17" name="Text 14"/>
          <p:cNvSpPr txBox="1"/>
          <p:nvPr/>
        </p:nvSpPr>
        <p:spPr>
          <a:xfrm>
            <a:off x="502920" y="4864608"/>
            <a:ext cx="5440680" cy="402336"/>
          </a:xfrm>
          <a:prstGeom prst="rect">
            <a:avLst/>
          </a:prstGeom>
          <a:noFill/>
          <a:ln/>
        </p:spPr>
        <p:txBody>
          <a:bodyPr wrap="square" lIns="0" tIns="0" rIns="0" bIns="0" rtlCol="0" anchor="ctr"/>
          <a:lstStyle/>
          <a:p>
            <a:pPr indent="0" marL="0">
              <a:lnSpc>
                <a:spcPts val="1100"/>
              </a:lnSpc>
              <a:buNone/>
            </a:pPr>
            <a:r>
              <a:rPr lang="en-US" sz="900" dirty="0">
                <a:solidFill>
                  <a:srgbClr val="949DA6"/>
                </a:solidFill>
                <a:latin typeface="Calibri" pitchFamily="34" charset="0"/>
                <a:ea typeface="Calibri" pitchFamily="34" charset="-122"/>
                <a:cs typeface="Calibri" pitchFamily="34" charset="-120"/>
              </a:rPr>
              <a:t>Naive benchmarks: random guess 0.125, majority class 0.133. All seven use library-default settings; tuning the winner added only 0.22 pp, less than a twentieth of the fold-to-fold variation.</a:t>
            </a:r>
            <a:endParaRPr lang="en-US" sz="900" dirty="0"/>
          </a:p>
        </p:txBody>
      </p:sp>
      <p:sp>
        <p:nvSpPr>
          <p:cNvPr id="18" name="Text 15"/>
          <p:cNvSpPr txBox="1"/>
          <p:nvPr/>
        </p:nvSpPr>
        <p:spPr>
          <a:xfrm>
            <a:off x="6309360" y="2231136"/>
            <a:ext cx="5394960" cy="237744"/>
          </a:xfrm>
          <a:prstGeom prst="rect">
            <a:avLst/>
          </a:prstGeom>
          <a:noFill/>
          <a:ln/>
        </p:spPr>
        <p:txBody>
          <a:bodyPr wrap="square" lIns="0" tIns="0" rIns="0" bIns="0" rtlCol="0" anchor="ctr"/>
          <a:lstStyle/>
          <a:p>
            <a:pPr indent="0" marL="0">
              <a:buNone/>
            </a:pPr>
            <a:r>
              <a:rPr lang="en-US" sz="1300" b="1" dirty="0">
                <a:solidFill>
                  <a:srgbClr val="1C232B"/>
                </a:solidFill>
                <a:latin typeface="Calibri" pitchFamily="34" charset="0"/>
                <a:ea typeface="Calibri" pitchFamily="34" charset="-122"/>
                <a:cs typeface="Calibri" pitchFamily="34" charset="-120"/>
              </a:rPr>
              <a:t>Why accuracy alone would mislead</a:t>
            </a:r>
            <a:endParaRPr lang="en-US" sz="1300" dirty="0"/>
          </a:p>
        </p:txBody>
      </p:sp>
      <p:sp>
        <p:nvSpPr>
          <p:cNvPr id="19" name="Text 16"/>
          <p:cNvSpPr txBox="1"/>
          <p:nvPr/>
        </p:nvSpPr>
        <p:spPr>
          <a:xfrm>
            <a:off x="6309360" y="2505456"/>
            <a:ext cx="5376672" cy="603504"/>
          </a:xfrm>
          <a:prstGeom prst="rect">
            <a:avLst/>
          </a:prstGeom>
          <a:noFill/>
          <a:ln/>
        </p:spPr>
        <p:txBody>
          <a:bodyPr wrap="square" lIns="0" tIns="0" rIns="0" bIns="0" rtlCol="0" anchor="ctr"/>
          <a:lstStyle/>
          <a:p>
            <a:pPr indent="0" marL="0">
              <a:lnSpc>
                <a:spcPts val="1350"/>
              </a:lnSpc>
              <a:buNone/>
            </a:pPr>
            <a:r>
              <a:rPr lang="en-US" sz="1050" dirty="0">
                <a:solidFill>
                  <a:srgbClr val="58626D"/>
                </a:solidFill>
                <a:latin typeface="Calibri" pitchFamily="34" charset="0"/>
                <a:ea typeface="Calibri" pitchFamily="34" charset="-122"/>
                <a:cs typeface="Calibri" pitchFamily="34" charset="-120"/>
              </a:rPr>
              <a:t>Neutral is 6.7% of the data. A model that never predicted it would still post a healthy accuracy, so the failure would stay invisible. Macro-F1 weights all eight emotions equally and exposes it, so both are reported on every run.</a:t>
            </a:r>
            <a:endParaRPr lang="en-US" sz="1050" dirty="0"/>
          </a:p>
        </p:txBody>
      </p:sp>
      <p:sp>
        <p:nvSpPr>
          <p:cNvPr id="20" name="Text 17"/>
          <p:cNvSpPr txBox="1"/>
          <p:nvPr/>
        </p:nvSpPr>
        <p:spPr>
          <a:xfrm>
            <a:off x="6309360" y="3200400"/>
            <a:ext cx="5394960" cy="237744"/>
          </a:xfrm>
          <a:prstGeom prst="rect">
            <a:avLst/>
          </a:prstGeom>
          <a:noFill/>
          <a:ln/>
        </p:spPr>
        <p:txBody>
          <a:bodyPr wrap="square" lIns="0" tIns="0" rIns="0" bIns="0" rtlCol="0" anchor="ctr"/>
          <a:lstStyle/>
          <a:p>
            <a:pPr indent="0" marL="0">
              <a:buNone/>
            </a:pPr>
            <a:r>
              <a:rPr lang="en-US" sz="1300" b="1" dirty="0">
                <a:solidFill>
                  <a:srgbClr val="1C232B"/>
                </a:solidFill>
                <a:latin typeface="Calibri" pitchFamily="34" charset="0"/>
                <a:ea typeface="Calibri" pitchFamily="34" charset="-122"/>
                <a:cs typeface="Calibri" pitchFamily="34" charset="-120"/>
              </a:rPr>
              <a:t>Where it fails, and why that is informative</a:t>
            </a:r>
            <a:endParaRPr lang="en-US" sz="1300" dirty="0"/>
          </a:p>
        </p:txBody>
      </p:sp>
      <p:sp>
        <p:nvSpPr>
          <p:cNvPr id="21" name="Text 18"/>
          <p:cNvSpPr txBox="1"/>
          <p:nvPr/>
        </p:nvSpPr>
        <p:spPr>
          <a:xfrm>
            <a:off x="6309360" y="3474720"/>
            <a:ext cx="5376672" cy="347472"/>
          </a:xfrm>
          <a:prstGeom prst="rect">
            <a:avLst/>
          </a:prstGeom>
          <a:noFill/>
          <a:ln/>
        </p:spPr>
        <p:txBody>
          <a:bodyPr wrap="square" lIns="0" tIns="0" rIns="0" bIns="0" rtlCol="0" anchor="ctr"/>
          <a:lstStyle/>
          <a:p>
            <a:pPr indent="0" marL="0">
              <a:lnSpc>
                <a:spcPts val="1050"/>
              </a:lnSpc>
              <a:buNone/>
            </a:pPr>
            <a:r>
              <a:rPr lang="en-US" sz="900" b="1" dirty="0">
                <a:solidFill>
                  <a:srgbClr val="1C232B"/>
                </a:solidFill>
                <a:latin typeface="Calibri" pitchFamily="34" charset="0"/>
                <a:ea typeface="Calibri" pitchFamily="34" charset="-122"/>
                <a:cs typeface="Calibri" pitchFamily="34" charset="-120"/>
              </a:rPr>
              <a:t>Sad and neutral are weakest - </a:t>
            </a:r>
            <a:pPr indent="0" marL="0">
              <a:lnSpc>
                <a:spcPts val="1050"/>
              </a:lnSpc>
              <a:buNone/>
            </a:pPr>
            <a:r>
              <a:rPr lang="en-US" sz="900" dirty="0">
                <a:solidFill>
                  <a:srgbClr val="58626D"/>
                </a:solidFill>
                <a:latin typeface="Calibri" pitchFamily="34" charset="0"/>
                <a:ea typeface="Calibri" pitchFamily="34" charset="-122"/>
                <a:cs typeface="Calibri" pitchFamily="34" charset="-120"/>
              </a:rPr>
              <a:t>F1 0.435 and 0.540, both predicted by the data audit before modelling began.</a:t>
            </a:r>
            <a:endParaRPr lang="en-US" sz="900" dirty="0"/>
          </a:p>
        </p:txBody>
      </p:sp>
      <p:sp>
        <p:nvSpPr>
          <p:cNvPr id="22" name="Text 19"/>
          <p:cNvSpPr txBox="1"/>
          <p:nvPr/>
        </p:nvSpPr>
        <p:spPr>
          <a:xfrm>
            <a:off x="6309360" y="3849624"/>
            <a:ext cx="5376672" cy="347472"/>
          </a:xfrm>
          <a:prstGeom prst="rect">
            <a:avLst/>
          </a:prstGeom>
          <a:noFill/>
          <a:ln/>
        </p:spPr>
        <p:txBody>
          <a:bodyPr wrap="square" lIns="0" tIns="0" rIns="0" bIns="0" rtlCol="0" anchor="ctr"/>
          <a:lstStyle/>
          <a:p>
            <a:pPr indent="0" marL="0">
              <a:lnSpc>
                <a:spcPts val="1050"/>
              </a:lnSpc>
              <a:buNone/>
            </a:pPr>
            <a:r>
              <a:rPr lang="en-US" sz="900" b="1" dirty="0">
                <a:solidFill>
                  <a:srgbClr val="1C232B"/>
                </a:solidFill>
                <a:latin typeface="Calibri" pitchFamily="34" charset="0"/>
                <a:ea typeface="Calibri" pitchFamily="34" charset="-122"/>
                <a:cs typeface="Calibri" pitchFamily="34" charset="-120"/>
              </a:rPr>
              <a:t>Errors are structured, not random - </a:t>
            </a:r>
            <a:pPr indent="0" marL="0">
              <a:lnSpc>
                <a:spcPts val="1050"/>
              </a:lnSpc>
              <a:buNone/>
            </a:pPr>
            <a:r>
              <a:rPr lang="en-US" sz="900" dirty="0">
                <a:solidFill>
                  <a:srgbClr val="58626D"/>
                </a:solidFill>
                <a:latin typeface="Calibri" pitchFamily="34" charset="0"/>
                <a:ea typeface="Calibri" pitchFamily="34" charset="-122"/>
                <a:cs typeface="Calibri" pitchFamily="34" charset="-120"/>
              </a:rPr>
              <a:t>62% of mistakes stay inside one arousal band against 43% expected by chance.</a:t>
            </a:r>
            <a:endParaRPr lang="en-US" sz="900" dirty="0"/>
          </a:p>
        </p:txBody>
      </p:sp>
      <p:sp>
        <p:nvSpPr>
          <p:cNvPr id="23" name="Text 20"/>
          <p:cNvSpPr txBox="1"/>
          <p:nvPr/>
        </p:nvSpPr>
        <p:spPr>
          <a:xfrm>
            <a:off x="6309360" y="4224528"/>
            <a:ext cx="5376672" cy="347472"/>
          </a:xfrm>
          <a:prstGeom prst="rect">
            <a:avLst/>
          </a:prstGeom>
          <a:noFill/>
          <a:ln/>
        </p:spPr>
        <p:txBody>
          <a:bodyPr wrap="square" lIns="0" tIns="0" rIns="0" bIns="0" rtlCol="0" anchor="ctr"/>
          <a:lstStyle/>
          <a:p>
            <a:pPr indent="0" marL="0">
              <a:lnSpc>
                <a:spcPts val="1050"/>
              </a:lnSpc>
              <a:buNone/>
            </a:pPr>
            <a:r>
              <a:rPr lang="en-US" sz="900" b="1" dirty="0">
                <a:solidFill>
                  <a:srgbClr val="1C232B"/>
                </a:solidFill>
                <a:latin typeface="Calibri" pitchFamily="34" charset="0"/>
                <a:ea typeface="Calibri" pitchFamily="34" charset="-122"/>
                <a:cs typeface="Calibri" pitchFamily="34" charset="-120"/>
              </a:rPr>
              <a:t>The leakage mechanism is proven - </a:t>
            </a:r>
            <a:pPr indent="0" marL="0">
              <a:lnSpc>
                <a:spcPts val="1050"/>
              </a:lnSpc>
              <a:buNone/>
            </a:pPr>
            <a:r>
              <a:rPr lang="en-US" sz="900" dirty="0">
                <a:solidFill>
                  <a:srgbClr val="58626D"/>
                </a:solidFill>
                <a:latin typeface="Calibri" pitchFamily="34" charset="0"/>
                <a:ea typeface="Calibri" pitchFamily="34" charset="-122"/>
                <a:cs typeface="Calibri" pitchFamily="34" charset="-120"/>
              </a:rPr>
              <a:t>a classifier recovers which of 24 actors is speaking with 92.7% accuracy (speaker-stratified by necessity: an unseen actor has no identity to recover).</a:t>
            </a:r>
            <a:endParaRPr lang="en-US" sz="900" dirty="0"/>
          </a:p>
        </p:txBody>
      </p:sp>
      <p:sp>
        <p:nvSpPr>
          <p:cNvPr id="24" name="Text 21"/>
          <p:cNvSpPr txBox="1"/>
          <p:nvPr/>
        </p:nvSpPr>
        <p:spPr>
          <a:xfrm>
            <a:off x="6309360" y="4599432"/>
            <a:ext cx="5376672" cy="347472"/>
          </a:xfrm>
          <a:prstGeom prst="rect">
            <a:avLst/>
          </a:prstGeom>
          <a:noFill/>
          <a:ln/>
        </p:spPr>
        <p:txBody>
          <a:bodyPr wrap="square" lIns="0" tIns="0" rIns="0" bIns="0" rtlCol="0" anchor="ctr"/>
          <a:lstStyle/>
          <a:p>
            <a:pPr indent="0" marL="0">
              <a:lnSpc>
                <a:spcPts val="1050"/>
              </a:lnSpc>
              <a:buNone/>
            </a:pPr>
            <a:r>
              <a:rPr lang="en-US" sz="900" b="1" dirty="0">
                <a:solidFill>
                  <a:srgbClr val="1C232B"/>
                </a:solidFill>
                <a:latin typeface="Calibri" pitchFamily="34" charset="0"/>
                <a:ea typeface="Calibri" pitchFamily="34" charset="-122"/>
                <a:cs typeface="Calibri" pitchFamily="34" charset="-120"/>
              </a:rPr>
              <a:t>Accuracy is not equal across groups - </a:t>
            </a:r>
            <a:pPr indent="0" marL="0">
              <a:lnSpc>
                <a:spcPts val="1050"/>
              </a:lnSpc>
              <a:buNone/>
            </a:pPr>
            <a:r>
              <a:rPr lang="en-US" sz="900" dirty="0">
                <a:solidFill>
                  <a:srgbClr val="58626D"/>
                </a:solidFill>
                <a:latin typeface="Calibri" pitchFamily="34" charset="0"/>
                <a:ea typeface="Calibri" pitchFamily="34" charset="-122"/>
                <a:cs typeface="Calibri" pitchFamily="34" charset="-120"/>
              </a:rPr>
              <a:t>12.8 pp worse on male voices, on a gender-balanced dataset.</a:t>
            </a:r>
            <a:endParaRPr lang="en-US" sz="900" dirty="0"/>
          </a:p>
        </p:txBody>
      </p:sp>
      <p:sp>
        <p:nvSpPr>
          <p:cNvPr id="25" name="Text 22"/>
          <p:cNvSpPr txBox="1"/>
          <p:nvPr/>
        </p:nvSpPr>
        <p:spPr>
          <a:xfrm>
            <a:off x="6309360" y="4974336"/>
            <a:ext cx="5376672" cy="347472"/>
          </a:xfrm>
          <a:prstGeom prst="rect">
            <a:avLst/>
          </a:prstGeom>
          <a:noFill/>
          <a:ln/>
        </p:spPr>
        <p:txBody>
          <a:bodyPr wrap="square" lIns="0" tIns="0" rIns="0" bIns="0" rtlCol="0" anchor="ctr"/>
          <a:lstStyle/>
          <a:p>
            <a:pPr indent="0" marL="0">
              <a:lnSpc>
                <a:spcPts val="1050"/>
              </a:lnSpc>
              <a:buNone/>
            </a:pPr>
            <a:r>
              <a:rPr lang="en-US" sz="900" b="1" dirty="0">
                <a:solidFill>
                  <a:srgbClr val="1C232B"/>
                </a:solidFill>
                <a:latin typeface="Calibri" pitchFamily="34" charset="0"/>
                <a:ea typeface="Calibri" pitchFamily="34" charset="-122"/>
                <a:cs typeface="Calibri" pitchFamily="34" charset="-120"/>
              </a:rPr>
              <a:t>Individual variation is larger still - </a:t>
            </a:r>
            <a:pPr indent="0" marL="0">
              <a:lnSpc>
                <a:spcPts val="1050"/>
              </a:lnSpc>
              <a:buNone/>
            </a:pPr>
            <a:r>
              <a:rPr lang="en-US" sz="900" dirty="0">
                <a:solidFill>
                  <a:srgbClr val="58626D"/>
                </a:solidFill>
                <a:latin typeface="Calibri" pitchFamily="34" charset="0"/>
                <a:ea typeface="Calibri" pitchFamily="34" charset="-122"/>
                <a:cs typeface="Calibri" pitchFamily="34" charset="-120"/>
              </a:rPr>
              <a:t>from 48% on the hardest speaker to 88% on the easiest, a 40 pp spread the headline average conceals.</a:t>
            </a:r>
            <a:endParaRPr lang="en-US" sz="900" dirty="0"/>
          </a:p>
        </p:txBody>
      </p:sp>
      <p:sp>
        <p:nvSpPr>
          <p:cNvPr id="26" name="Shape 23"/>
          <p:cNvSpPr/>
          <p:nvPr/>
        </p:nvSpPr>
        <p:spPr>
          <a:xfrm>
            <a:off x="6309360" y="5413248"/>
            <a:ext cx="5376672" cy="914400"/>
          </a:xfrm>
          <a:prstGeom prst="rect">
            <a:avLst/>
          </a:prstGeom>
          <a:solidFill>
            <a:srgbClr val="F3F6F7"/>
          </a:solidFill>
          <a:ln w="12700">
            <a:solidFill>
              <a:srgbClr val="F3F6F7"/>
            </a:solidFill>
            <a:prstDash val="solid"/>
          </a:ln>
        </p:spPr>
      </p:sp>
      <p:sp>
        <p:nvSpPr>
          <p:cNvPr id="27" name="Text 24"/>
          <p:cNvSpPr txBox="1"/>
          <p:nvPr/>
        </p:nvSpPr>
        <p:spPr>
          <a:xfrm>
            <a:off x="6473952" y="5504688"/>
            <a:ext cx="5047488" cy="201168"/>
          </a:xfrm>
          <a:prstGeom prst="rect">
            <a:avLst/>
          </a:prstGeom>
          <a:noFill/>
          <a:ln/>
        </p:spPr>
        <p:txBody>
          <a:bodyPr wrap="square" lIns="0" tIns="0" rIns="0" bIns="0" rtlCol="0" anchor="ctr"/>
          <a:lstStyle/>
          <a:p>
            <a:pPr indent="0" marL="0">
              <a:buNone/>
            </a:pPr>
            <a:r>
              <a:rPr lang="en-US" sz="1050" b="1" dirty="0">
                <a:solidFill>
                  <a:srgbClr val="1C232B"/>
                </a:solidFill>
                <a:latin typeface="Calibri" pitchFamily="34" charset="0"/>
                <a:ea typeface="Calibri" pitchFamily="34" charset="-122"/>
                <a:cs typeface="Calibri" pitchFamily="34" charset="-120"/>
              </a:rPr>
              <a:t>What this means commercially</a:t>
            </a:r>
            <a:endParaRPr lang="en-US" sz="1050" dirty="0"/>
          </a:p>
        </p:txBody>
      </p:sp>
      <p:sp>
        <p:nvSpPr>
          <p:cNvPr id="28" name="Text 25"/>
          <p:cNvSpPr txBox="1"/>
          <p:nvPr/>
        </p:nvSpPr>
        <p:spPr>
          <a:xfrm>
            <a:off x="6473952" y="5705856"/>
            <a:ext cx="5047488" cy="566928"/>
          </a:xfrm>
          <a:prstGeom prst="rect">
            <a:avLst/>
          </a:prstGeom>
          <a:noFill/>
          <a:ln/>
        </p:spPr>
        <p:txBody>
          <a:bodyPr wrap="square" lIns="0" tIns="0" rIns="0" bIns="0" rtlCol="0" anchor="ctr"/>
          <a:lstStyle/>
          <a:p>
            <a:pPr indent="0" marL="0">
              <a:lnSpc>
                <a:spcPts val="1050"/>
              </a:lnSpc>
              <a:buNone/>
            </a:pPr>
            <a:r>
              <a:rPr lang="en-US" sz="900" dirty="0">
                <a:solidFill>
                  <a:srgbClr val="58626D"/>
                </a:solidFill>
                <a:latin typeface="Calibri" pitchFamily="34" charset="0"/>
                <a:ea typeface="Calibri" pitchFamily="34" charset="-122"/>
                <a:cs typeface="Calibri" pitchFamily="34" charset="-120"/>
              </a:rPr>
              <a:t>On normal-intensity speech, which is what real call audio sounds like, accuracy is 59.9% rather than 63.9% - enough to rank which calls a supervisor reviews first, not to act on unreviewed. </a:t>
            </a:r>
            <a:pPr indent="0" marL="0">
              <a:lnSpc>
                <a:spcPts val="1050"/>
              </a:lnSpc>
              <a:buNone/>
            </a:pPr>
            <a:r>
              <a:rPr lang="en-US" sz="900" dirty="0">
                <a:solidFill>
                  <a:srgbClr val="1C232B"/>
                </a:solidFill>
                <a:latin typeface="Calibri" pitchFamily="34" charset="0"/>
                <a:ea typeface="Calibri" pitchFamily="34" charset="-122"/>
                <a:cs typeface="Calibri" pitchFamily="34" charset="-120"/>
              </a:rPr>
              <a:t>Part of that drop is class composition: all 96 neutral clips exist at normal intensity only, so the harder subset also carries our weakest class.</a:t>
            </a:r>
            <a:endParaRPr lang="en-US" sz="900" dirty="0"/>
          </a:p>
        </p:txBody>
      </p:sp>
      <p:sp>
        <p:nvSpPr>
          <p:cNvPr id="29" name="Text 26"/>
          <p:cNvSpPr txBox="1"/>
          <p:nvPr/>
        </p:nvSpPr>
        <p:spPr>
          <a:xfrm>
            <a:off x="502920" y="5394960"/>
            <a:ext cx="5394960" cy="237744"/>
          </a:xfrm>
          <a:prstGeom prst="rect">
            <a:avLst/>
          </a:prstGeom>
          <a:noFill/>
          <a:ln/>
        </p:spPr>
        <p:txBody>
          <a:bodyPr wrap="square" lIns="0" tIns="0" rIns="0" bIns="0" rtlCol="0" anchor="ctr"/>
          <a:lstStyle/>
          <a:p>
            <a:pPr indent="0" marL="0">
              <a:buNone/>
            </a:pPr>
            <a:r>
              <a:rPr lang="en-US" sz="1300" b="1" dirty="0">
                <a:solidFill>
                  <a:srgbClr val="1C232B"/>
                </a:solidFill>
                <a:latin typeface="Calibri" pitchFamily="34" charset="0"/>
                <a:ea typeface="Calibri" pitchFamily="34" charset="-122"/>
                <a:cs typeface="Calibri" pitchFamily="34" charset="-120"/>
              </a:rPr>
              <a:t>Experiment plan for the final review</a:t>
            </a:r>
            <a:endParaRPr lang="en-US" sz="1300" dirty="0"/>
          </a:p>
        </p:txBody>
      </p:sp>
      <p:sp>
        <p:nvSpPr>
          <p:cNvPr id="30" name="Text 27"/>
          <p:cNvSpPr txBox="1"/>
          <p:nvPr/>
        </p:nvSpPr>
        <p:spPr>
          <a:xfrm>
            <a:off x="502920" y="5669280"/>
            <a:ext cx="5440680" cy="621792"/>
          </a:xfrm>
          <a:prstGeom prst="rect">
            <a:avLst/>
          </a:prstGeom>
          <a:noFill/>
          <a:ln/>
        </p:spPr>
        <p:txBody>
          <a:bodyPr wrap="square" lIns="0" tIns="0" rIns="0" bIns="0" rtlCol="0" anchor="ctr"/>
          <a:lstStyle/>
          <a:p>
            <a:pPr indent="0" marL="0">
              <a:lnSpc>
                <a:spcPts val="1150"/>
              </a:lnSpc>
              <a:buNone/>
            </a:pPr>
            <a:r>
              <a:rPr lang="en-US" sz="950" dirty="0">
                <a:solidFill>
                  <a:srgbClr val="58626D"/>
                </a:solidFill>
                <a:latin typeface="Calibri" pitchFamily="34" charset="0"/>
                <a:ea typeface="Calibri" pitchFamily="34" charset="-122"/>
                <a:cs typeface="Calibri" pitchFamily="34" charset="-120"/>
              </a:rPr>
              <a:t>Every approach on the previous slide is scored on the same frozen folds and logged to one results file, so the numbers stay comparable. Each must clear 0.633 macro-F1 on unseen speakers to enter the final solution; anything that does not is reported as a negative result rather than dropped.</a:t>
            </a:r>
            <a:endParaRPr lang="en-US" sz="950" dirty="0"/>
          </a:p>
        </p:txBody>
      </p:sp>
      <p:sp>
        <p:nvSpPr>
          <p:cNvPr id="31" name="Text 28"/>
          <p:cNvSpPr txBox="1"/>
          <p:nvPr/>
        </p:nvSpPr>
        <p:spPr>
          <a:xfrm>
            <a:off x="502920" y="6473952"/>
            <a:ext cx="11155680" cy="237744"/>
          </a:xfrm>
          <a:prstGeom prst="rect">
            <a:avLst/>
          </a:prstGeom>
          <a:noFill/>
          <a:ln/>
        </p:spPr>
        <p:txBody>
          <a:bodyPr wrap="square" lIns="0" tIns="0" rIns="0" bIns="0" rtlCol="0" anchor="ctr"/>
          <a:lstStyle/>
          <a:p>
            <a:pPr indent="0" marL="0">
              <a:buNone/>
            </a:pPr>
            <a:r>
              <a:rPr lang="en-US" sz="850" dirty="0">
                <a:solidFill>
                  <a:srgbClr val="949DA6"/>
                </a:solidFill>
                <a:latin typeface="Calibri" pitchFamily="34" charset="0"/>
                <a:ea typeface="Calibri" pitchFamily="34" charset="-122"/>
                <a:cs typeface="Calibri" pitchFamily="34" charset="-120"/>
              </a:rPr>
              <a:t>Source: own analysis, 173 logged runs on RAVDESS (Livingstone and Russo, 2018). Pooled out-of-fold across all 1,440 clips, 5-fold speaker-held-out protocol; fold-to-fold standard deviation 5.09 pp. pp = percentage points.</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2026-09-04T18:06:56Z</dcterms:created>
  <dcterms:modified xsi:type="dcterms:W3CDTF">2026-09-04T18:06:56Z</dcterms:modified>
</cp:coreProperties>
</file>